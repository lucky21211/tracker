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6wresearch.com/market-takeaways-view/how-big-is-the-productivity-app-market?" TargetMode="External"/><Relationship Id="rId4" Type="http://schemas.openxmlformats.org/officeDocument/2006/relationships/hyperlink" Target="https://www.worldwidemarketreports.com/market-insights/to-do-list-apps-market-1025188?" TargetMode="External"/><Relationship Id="rId5" Type="http://schemas.openxmlformats.org/officeDocument/2006/relationships/hyperlink" Target="https://www.businessresearchinsights.com/market-reports/to-do-list-apps-market-117863?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640080" y="228600"/>
            <a:ext cx="109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Проблема продуктивности и прокрастинации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40080" y="713232"/>
            <a:ext cx="10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40075" y="1371600"/>
            <a:ext cx="5322300" cy="512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29528" y="1569500"/>
            <a:ext cx="53901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Проблема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83675" y="2165475"/>
            <a:ext cx="5078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Многие студенты и фрилансеры работают без внешнего контроля и вынуждены самостоятельно управлять задачами.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Существующие трекеры задач не помогают удерживать мотивацию и фокус.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Последствия</a:t>
            </a: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 - снижение продуктивности, срыв дедлайнов и стресс.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600950" y="1371600"/>
            <a:ext cx="5322300" cy="512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Диаграмма ответов в Формах. Вопрос: Чем вы сейчас пользуетесь для планирования дня?. Количество ответов: 46 ответов." id="92" name="Google Shape;92;p13" title="Чем вы сейчас пользуетесь для планирования дня?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0950" y="2251887"/>
            <a:ext cx="5322301" cy="2240163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sp>
        <p:nvSpPr>
          <p:cNvPr id="93" name="Google Shape;93;p13"/>
          <p:cNvSpPr txBox="1"/>
          <p:nvPr/>
        </p:nvSpPr>
        <p:spPr>
          <a:xfrm>
            <a:off x="6600950" y="4710200"/>
            <a:ext cx="532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5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На основе ответов 46 респондентов мы видим, что 30% людей не используют средства управления задачами</a:t>
            </a:r>
            <a:endParaRPr i="1" sz="15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70500" y="0"/>
            <a:ext cx="12191700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40080" y="228600"/>
            <a:ext cx="109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- целевой клиент и сегмент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40080" y="713232"/>
            <a:ext cx="10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40075" y="1371600"/>
            <a:ext cx="3591300" cy="246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960122" y="1446675"/>
            <a:ext cx="331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Основной сегмент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77175" y="1848725"/>
            <a:ext cx="3317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Фрилансеры и студенты 18-30 лет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40080" y="3977639"/>
            <a:ext cx="10972800" cy="251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960120" y="4206239"/>
            <a:ext cx="1033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JTBD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38" y="4727503"/>
            <a:ext cx="10424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“Когда у меня много задач и дедлайнов,</a:t>
            </a:r>
            <a:endParaRPr b="1"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я хочу простой и мотивирующий инструмент планирования,</a:t>
            </a:r>
            <a:endParaRPr b="1"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чтобы сохранять фокус и доводить задачи до конца.”</a:t>
            </a:r>
            <a:endParaRPr b="1"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40080" y="653796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</a:t>
            </a: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4339050" y="1380800"/>
            <a:ext cx="3674400" cy="246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506597" y="1446675"/>
            <a:ext cx="331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Характеристики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441813" y="1839200"/>
            <a:ext cx="34815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работают без внешнего контроля</a:t>
            </a:r>
            <a:b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испытывают трудности с дисциплиной</a:t>
            </a:r>
            <a:b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используют простые инструменты (заметки / блокнот)</a:t>
            </a:r>
            <a:b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заинтересованы в self-improvement</a:t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258225" y="1373200"/>
            <a:ext cx="3623100" cy="2465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 txBox="1"/>
          <p:nvPr/>
        </p:nvSpPr>
        <p:spPr>
          <a:xfrm>
            <a:off x="8410022" y="1520150"/>
            <a:ext cx="3319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Барьеры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410025" y="1966550"/>
            <a:ext cx="34815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Привычка использовать устоявшиеся способы</a:t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недоверие к новым приложениям</a:t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сложность в освоении</a:t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отказ от приложений из-за отсутствия результатов</a:t>
            </a:r>
            <a:endParaRPr sz="13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40080" y="228600"/>
            <a:ext cx="109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- TAM/SAM/SOM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640080" y="713232"/>
            <a:ext cx="10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40075" y="5190025"/>
            <a:ext cx="10972800" cy="1302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960120" y="1600200"/>
            <a:ext cx="4846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фывфыв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40075" y="5440125"/>
            <a:ext cx="109728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Метод расчёта: комбинированный</a:t>
            </a:r>
            <a:endParaRPr i="1" sz="15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15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TAM — top-down</a:t>
            </a:r>
            <a:endParaRPr i="1" sz="15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-US" sz="15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SAM/SOM — сегментация + ARPU</a:t>
            </a:r>
            <a:endParaRPr i="1" sz="15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39975" y="1005850"/>
            <a:ext cx="10972800" cy="393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40080" y="653796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</a:t>
            </a: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6500" y="1005850"/>
            <a:ext cx="7451643" cy="393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40080" y="228600"/>
            <a:ext cx="109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now / Drivers - почему сейчас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40080" y="713232"/>
            <a:ext cx="10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640077" y="1371600"/>
            <a:ext cx="5673000" cy="512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960122" y="1600200"/>
            <a:ext cx="4834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lang="en-US" sz="23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Основные драйверы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914375" y="2406100"/>
            <a:ext cx="5398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Рост удаленной работы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Рост необходимости в самоорганизации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“Культ продуктивности”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Развитие ИИ Ассистентов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Font typeface="Calibri"/>
              <a:buChar char="●"/>
            </a:pPr>
            <a:r>
              <a:rPr lang="en-US" sz="1800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СДВГ-осведомленность</a:t>
            </a:r>
            <a:endParaRPr sz="1800">
              <a:solidFill>
                <a:srgbClr val="19191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40080" y="6537960"/>
            <a:ext cx="109728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</a:t>
            </a:r>
            <a:r>
              <a:rPr lang="en-US" sz="1000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6573927" y="1417250"/>
            <a:ext cx="5673000" cy="5120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7687" y="2304575"/>
            <a:ext cx="5165475" cy="319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361E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640080" y="228600"/>
            <a:ext cx="109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Источники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640080" y="713232"/>
            <a:ext cx="1091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40080" y="1371600"/>
            <a:ext cx="10972800" cy="5120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E1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914425" y="2274594"/>
            <a:ext cx="10424100" cy="12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Big is the Productivity App Market | Manufactures and Suppliers 2025 (Август 2025)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To-Do List Apps Market size and share Analysis - Growth trends and forecasts (2025 - 2032) (Сентябрь 2025)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u="sng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To-Do List Apps Market Size, Share, Growth, and Industry Analysis, By Type (cloud based and on premises), By Application (individual and enterprise), and Regional Insights and Forecast to 2035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AutoNum type="arabicPeriod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Опрос на 46 респондентов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40080" y="65379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Дисциплина: «Стартап в ИТ» • Практика №5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