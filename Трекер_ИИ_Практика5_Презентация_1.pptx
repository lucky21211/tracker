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361E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640080" y="228600"/>
            <a:ext cx="1091153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Практическое занятие №5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640080" y="713232"/>
            <a:ext cx="10911535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EBEBFF"/>
                </a:solidFill>
                <a:latin typeface="Calibri"/>
                <a:ea typeface="Calibri"/>
                <a:cs typeface="Calibri"/>
                <a:sym typeface="Calibri"/>
              </a:rPr>
              <a:t>Формирование портрета потребительского сегмента — проект «Трекер ИИ»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640080" y="1371600"/>
            <a:ext cx="10972800" cy="5120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1E4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929532" y="1569500"/>
            <a:ext cx="10332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Коротко о продукте</a:t>
            </a:r>
            <a:endParaRPr sz="2100"/>
          </a:p>
        </p:txBody>
      </p:sp>
      <p:sp>
        <p:nvSpPr>
          <p:cNvPr id="90" name="Google Shape;90;p13"/>
          <p:cNvSpPr txBox="1"/>
          <p:nvPr/>
        </p:nvSpPr>
        <p:spPr>
          <a:xfrm>
            <a:off x="883800" y="2251875"/>
            <a:ext cx="10424100" cy="28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«Трекер ИИ» </a:t>
            </a:r>
            <a:r>
              <a:rPr lang="en-US" sz="18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— инструмент для ведения задач и проектов с AI‑подсказками (приоритизация, разбиение на шаги, подсказки по формулировкам).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Ценность: быстрее планировать, меньше «залипать» на старте, видеть прогресс и держать фокус.</a:t>
            </a:r>
            <a:endParaRPr sz="1800">
              <a:solidFill>
                <a:srgbClr val="19191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9191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Формат: мобильный доступ; интеграции с </a:t>
            </a:r>
            <a:r>
              <a:rPr lang="en-US" sz="18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календарем</a:t>
            </a:r>
            <a:r>
              <a:rPr lang="en-US" sz="18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/мессенджерами (на уровне MVP — уведомления и </a:t>
            </a:r>
            <a:endParaRPr sz="1800">
              <a:solidFill>
                <a:srgbClr val="19191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импорт).</a:t>
            </a:r>
            <a:endParaRPr sz="1800">
              <a:solidFill>
                <a:srgbClr val="19191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9191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Цель занятия: описать целевой сегмент так, чтобы можно было точнее сформулировать ценностное предложение и гипотезы для валидации.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361E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640080" y="228600"/>
            <a:ext cx="1091153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1) Границы выбранного сегмента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40080" y="713232"/>
            <a:ext cx="10911535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EBEBFF"/>
                </a:solidFill>
                <a:latin typeface="Calibri"/>
                <a:ea typeface="Calibri"/>
                <a:cs typeface="Calibri"/>
                <a:sym typeface="Calibri"/>
              </a:rPr>
              <a:t>Кого берём на старт и почему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640080" y="1371600"/>
            <a:ext cx="10972800" cy="2468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1E4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960120" y="1446675"/>
            <a:ext cx="10332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Формулировка сегмента </a:t>
            </a:r>
            <a:endParaRPr sz="2300"/>
          </a:p>
        </p:txBody>
      </p:sp>
      <p:sp>
        <p:nvSpPr>
          <p:cNvPr id="101" name="Google Shape;101;p14"/>
          <p:cNvSpPr txBox="1"/>
          <p:nvPr/>
        </p:nvSpPr>
        <p:spPr>
          <a:xfrm>
            <a:off x="914400" y="1828800"/>
            <a:ext cx="104241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Мы рассматриваем сегмент: молодые специалисты и студенты, которые учатся/работают и ведут много параллельных задач.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Сегмент выбран на старте, потому что: проблема «планирование и фокус» возникает ежедневно; аудитория доступна для интервью и быстро пробует новые инструменты.</a:t>
            </a:r>
            <a:endParaRPr sz="1800"/>
          </a:p>
        </p:txBody>
      </p:sp>
      <p:sp>
        <p:nvSpPr>
          <p:cNvPr id="102" name="Google Shape;102;p14"/>
          <p:cNvSpPr/>
          <p:nvPr/>
        </p:nvSpPr>
        <p:spPr>
          <a:xfrm>
            <a:off x="640080" y="3977639"/>
            <a:ext cx="10972800" cy="2514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1E4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960120" y="4206239"/>
            <a:ext cx="10332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Контекст потребления</a:t>
            </a:r>
            <a:endParaRPr sz="2100"/>
          </a:p>
        </p:txBody>
      </p:sp>
      <p:sp>
        <p:nvSpPr>
          <p:cNvPr id="104" name="Google Shape;104;p14"/>
          <p:cNvSpPr txBox="1"/>
          <p:nvPr/>
        </p:nvSpPr>
        <p:spPr>
          <a:xfrm>
            <a:off x="914438" y="4727503"/>
            <a:ext cx="10424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Где возникает: </a:t>
            </a:r>
            <a:r>
              <a:rPr lang="en-US" sz="18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учёба/работа, дедлайны, проекты/курсы, пет‑проекты, фриланс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Ключевой сценарий: </a:t>
            </a:r>
            <a:r>
              <a:rPr lang="en-US" sz="18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нужно быстро разложить задачу на шаги, оценить сроки и не потерять контекст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Единица спроса: </a:t>
            </a:r>
            <a:r>
              <a:rPr lang="en-US" sz="18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«спринт» из задач на 1–7 дней + напоминания/фокус‑режим</a:t>
            </a:r>
            <a:endParaRPr sz="1800"/>
          </a:p>
        </p:txBody>
      </p:sp>
      <p:sp>
        <p:nvSpPr>
          <p:cNvPr id="105" name="Google Shape;105;p14"/>
          <p:cNvSpPr txBox="1"/>
          <p:nvPr/>
        </p:nvSpPr>
        <p:spPr>
          <a:xfrm>
            <a:off x="640080" y="653796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Дисциплина: «Стартап в ИТ» • Практика №5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361E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640080" y="228600"/>
            <a:ext cx="1091153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2) Desk research: сигналы о сегменте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640080" y="713232"/>
            <a:ext cx="10911535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EBEBFF"/>
                </a:solidFill>
                <a:latin typeface="Calibri"/>
                <a:ea typeface="Calibri"/>
                <a:cs typeface="Calibri"/>
                <a:sym typeface="Calibri"/>
              </a:rPr>
              <a:t>Что мы наблюдаем по открытым источникам</a:t>
            </a:r>
            <a:endParaRPr/>
          </a:p>
        </p:txBody>
      </p:sp>
      <p:sp>
        <p:nvSpPr>
          <p:cNvPr id="114" name="Google Shape;114;p15"/>
          <p:cNvSpPr/>
          <p:nvPr/>
        </p:nvSpPr>
        <p:spPr>
          <a:xfrm>
            <a:off x="640080" y="1371600"/>
            <a:ext cx="5486400" cy="5120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1E4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960120" y="1600200"/>
            <a:ext cx="4846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Сигналы (примеры)</a:t>
            </a:r>
            <a:endParaRPr sz="2300"/>
          </a:p>
        </p:txBody>
      </p:sp>
      <p:sp>
        <p:nvSpPr>
          <p:cNvPr id="116" name="Google Shape;116;p15"/>
          <p:cNvSpPr txBox="1"/>
          <p:nvPr/>
        </p:nvSpPr>
        <p:spPr>
          <a:xfrm>
            <a:off x="960125" y="2330375"/>
            <a:ext cx="49377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В отзывах на трекеры задач часто жалуются на «слишком сложно» и «нужно много ручного ввода».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В ИТ‑сообществах обсуждают прокрастинацию и трудности с оценкой времени на задачи.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Популярны шаблоны «to‑do + </a:t>
            </a:r>
            <a:r>
              <a:rPr lang="en-US" sz="18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ежедневный результат</a:t>
            </a:r>
            <a:r>
              <a:rPr lang="en-US" sz="18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», но их тяжело поддерживать регулярно.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Многие используют смесь инструментов: заметки + календарь, теряя контекст.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Запрос на «умные» подсказки: как сформулировать задачу, что сделать первым, как не распылиться.</a:t>
            </a:r>
            <a:endParaRPr sz="1800"/>
          </a:p>
        </p:txBody>
      </p:sp>
      <p:sp>
        <p:nvSpPr>
          <p:cNvPr id="117" name="Google Shape;117;p15"/>
          <p:cNvSpPr/>
          <p:nvPr/>
        </p:nvSpPr>
        <p:spPr>
          <a:xfrm>
            <a:off x="6355080" y="1371600"/>
            <a:ext cx="5257800" cy="5120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1E4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6675120" y="1600200"/>
            <a:ext cx="4617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Выводы для «Трекера ИИ»</a:t>
            </a:r>
            <a:endParaRPr sz="2300"/>
          </a:p>
        </p:txBody>
      </p:sp>
      <p:sp>
        <p:nvSpPr>
          <p:cNvPr id="119" name="Google Shape;119;p15"/>
          <p:cNvSpPr txBox="1"/>
          <p:nvPr/>
        </p:nvSpPr>
        <p:spPr>
          <a:xfrm>
            <a:off x="6629425" y="2395175"/>
            <a:ext cx="4709100" cy="28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Нужен «быстрый старт»: задача → шаги → оценка/дедлайн.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Минимизировать ручной ввод: автозаполнение, шаблоны, импорт задач.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Фокус на удержании ритма: напоминания, ежедневный план, «следующий шаг».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Прозрачный контроль: что сделано, что блокирует, что перенести.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Доверие к AI: объяснения рекомендаций и возможность правки.</a:t>
            </a:r>
            <a:endParaRPr sz="1800"/>
          </a:p>
        </p:txBody>
      </p:sp>
      <p:sp>
        <p:nvSpPr>
          <p:cNvPr id="120" name="Google Shape;120;p15"/>
          <p:cNvSpPr txBox="1"/>
          <p:nvPr/>
        </p:nvSpPr>
        <p:spPr>
          <a:xfrm>
            <a:off x="640080" y="653796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Дисциплина: «Стартап в ИТ» • Практика №5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361E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6"/>
          <p:cNvSpPr txBox="1"/>
          <p:nvPr/>
        </p:nvSpPr>
        <p:spPr>
          <a:xfrm>
            <a:off x="640080" y="228600"/>
            <a:ext cx="1091153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3) Паспорт сегмента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640080" y="713232"/>
            <a:ext cx="10911535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EBEBFF"/>
                </a:solidFill>
                <a:latin typeface="Calibri"/>
                <a:ea typeface="Calibri"/>
                <a:cs typeface="Calibri"/>
                <a:sym typeface="Calibri"/>
              </a:rPr>
              <a:t>Ключевые параметры поведения, контекста и выбора</a:t>
            </a:r>
            <a:endParaRPr/>
          </a:p>
        </p:txBody>
      </p:sp>
      <p:sp>
        <p:nvSpPr>
          <p:cNvPr id="129" name="Google Shape;129;p16"/>
          <p:cNvSpPr/>
          <p:nvPr/>
        </p:nvSpPr>
        <p:spPr>
          <a:xfrm>
            <a:off x="640080" y="1371600"/>
            <a:ext cx="10972800" cy="5120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1E4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 txBox="1"/>
          <p:nvPr/>
        </p:nvSpPr>
        <p:spPr>
          <a:xfrm>
            <a:off x="960120" y="1600200"/>
            <a:ext cx="10332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Карточка сегмента</a:t>
            </a:r>
            <a:endParaRPr sz="2300"/>
          </a:p>
        </p:txBody>
      </p:sp>
      <p:sp>
        <p:nvSpPr>
          <p:cNvPr id="131" name="Google Shape;131;p16"/>
          <p:cNvSpPr txBox="1"/>
          <p:nvPr/>
        </p:nvSpPr>
        <p:spPr>
          <a:xfrm>
            <a:off x="914375" y="2406100"/>
            <a:ext cx="104241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Кто: </a:t>
            </a:r>
            <a:r>
              <a:rPr lang="en-US" sz="18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студент/начинающий ИТ‑специалист, ведёт 5-10 активных задач одновременно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Контекст: </a:t>
            </a:r>
            <a:r>
              <a:rPr lang="en-US" sz="18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учёба + работа/стажировка + личные проекты; частые переключения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Цель: </a:t>
            </a:r>
            <a:r>
              <a:rPr lang="en-US" sz="18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успевать к дедлайнам и сохранять фокус без перегруза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Триггер: </a:t>
            </a:r>
            <a:r>
              <a:rPr lang="en-US" sz="18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появился новый дедлайн/задача, «всё горит», потерян план на неделю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Текущая замена: </a:t>
            </a:r>
            <a:r>
              <a:rPr lang="en-US" sz="18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Notion/Trello/Google Tasks + заметки + календарь; иногда — «в голове»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Потери: </a:t>
            </a:r>
            <a:r>
              <a:rPr lang="en-US" sz="18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лишние 30–90 минут в день на планирование/переписывание; 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Ограничения: </a:t>
            </a:r>
            <a:r>
              <a:rPr lang="en-US" sz="18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минимальный бюджет; важно быстро разобраться;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Критерии выбора: </a:t>
            </a:r>
            <a:r>
              <a:rPr lang="en-US" sz="18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скорость ввода • удобство • AI‑помощь • интеграции • цена • доверие/безопасность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Каналы доступа: </a:t>
            </a:r>
            <a:r>
              <a:rPr lang="en-US" sz="18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Telegram/Discord/Reddit, студенческие чаты, карьерные сообщества, YouTube/курсы</a:t>
            </a:r>
            <a:endParaRPr sz="1800"/>
          </a:p>
        </p:txBody>
      </p:sp>
      <p:sp>
        <p:nvSpPr>
          <p:cNvPr id="132" name="Google Shape;132;p16"/>
          <p:cNvSpPr txBox="1"/>
          <p:nvPr/>
        </p:nvSpPr>
        <p:spPr>
          <a:xfrm>
            <a:off x="640080" y="653796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Дисциплина: «Стартап в ИТ» • Практика №5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7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361E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7"/>
          <p:cNvSpPr txBox="1"/>
          <p:nvPr/>
        </p:nvSpPr>
        <p:spPr>
          <a:xfrm>
            <a:off x="640080" y="228600"/>
            <a:ext cx="1091153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4) Persona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640080" y="713232"/>
            <a:ext cx="10911535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EBEBFF"/>
                </a:solidFill>
                <a:latin typeface="Calibri"/>
                <a:ea typeface="Calibri"/>
                <a:cs typeface="Calibri"/>
                <a:sym typeface="Calibri"/>
              </a:rPr>
              <a:t>Типовой представитель сегмента</a:t>
            </a:r>
            <a:endParaRPr/>
          </a:p>
        </p:txBody>
      </p:sp>
      <p:sp>
        <p:nvSpPr>
          <p:cNvPr id="141" name="Google Shape;141;p17"/>
          <p:cNvSpPr/>
          <p:nvPr/>
        </p:nvSpPr>
        <p:spPr>
          <a:xfrm>
            <a:off x="640080" y="1371600"/>
            <a:ext cx="6949440" cy="5120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1E4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 txBox="1"/>
          <p:nvPr/>
        </p:nvSpPr>
        <p:spPr>
          <a:xfrm>
            <a:off x="960120" y="1600200"/>
            <a:ext cx="63093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Персона: «Аня, 21»</a:t>
            </a:r>
            <a:endParaRPr sz="2300"/>
          </a:p>
        </p:txBody>
      </p:sp>
      <p:sp>
        <p:nvSpPr>
          <p:cNvPr id="143" name="Google Shape;143;p17"/>
          <p:cNvSpPr txBox="1"/>
          <p:nvPr/>
        </p:nvSpPr>
        <p:spPr>
          <a:xfrm>
            <a:off x="914400" y="2487175"/>
            <a:ext cx="64008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Студентка ИТ + стажировка в разработке. Параллельно делает курсовой проект и готовится к собеседованиям.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Хочет держать всё в одном месте, быстро превращать «идею» в конкретные шаги и не забывать важное.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Сейчас ведёт задачи в Notion + календарь + заметки. Часто теряет фокус и переоценивает время.</a:t>
            </a:r>
            <a:endParaRPr sz="1800"/>
          </a:p>
        </p:txBody>
      </p:sp>
      <p:sp>
        <p:nvSpPr>
          <p:cNvPr id="144" name="Google Shape;144;p17"/>
          <p:cNvSpPr/>
          <p:nvPr/>
        </p:nvSpPr>
        <p:spPr>
          <a:xfrm>
            <a:off x="7726679" y="1371600"/>
            <a:ext cx="3886200" cy="2423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1E4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 txBox="1"/>
          <p:nvPr/>
        </p:nvSpPr>
        <p:spPr>
          <a:xfrm>
            <a:off x="8046719" y="1559250"/>
            <a:ext cx="3246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Цели</a:t>
            </a:r>
            <a:endParaRPr sz="2300"/>
          </a:p>
        </p:txBody>
      </p:sp>
      <p:sp>
        <p:nvSpPr>
          <p:cNvPr id="146" name="Google Shape;146;p17"/>
          <p:cNvSpPr txBox="1"/>
          <p:nvPr/>
        </p:nvSpPr>
        <p:spPr>
          <a:xfrm>
            <a:off x="7955225" y="2158538"/>
            <a:ext cx="33375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Закрывать дедлайны без авралов</a:t>
            </a:r>
            <a:endParaRPr sz="1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Понимать «следующий шаг»</a:t>
            </a:r>
            <a:endParaRPr sz="1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Реалистично планировать неделю</a:t>
            </a:r>
            <a:endParaRPr sz="1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Меньше стресса и хаоса</a:t>
            </a:r>
            <a:endParaRPr sz="1700"/>
          </a:p>
        </p:txBody>
      </p:sp>
      <p:sp>
        <p:nvSpPr>
          <p:cNvPr id="147" name="Google Shape;147;p17"/>
          <p:cNvSpPr/>
          <p:nvPr/>
        </p:nvSpPr>
        <p:spPr>
          <a:xfrm>
            <a:off x="7726679" y="3886200"/>
            <a:ext cx="3886200" cy="26060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1E4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 txBox="1"/>
          <p:nvPr/>
        </p:nvSpPr>
        <p:spPr>
          <a:xfrm>
            <a:off x="8046707" y="4057075"/>
            <a:ext cx="3246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Боли и возражения</a:t>
            </a:r>
            <a:endParaRPr sz="2300"/>
          </a:p>
        </p:txBody>
      </p:sp>
      <p:sp>
        <p:nvSpPr>
          <p:cNvPr id="149" name="Google Shape;149;p17"/>
          <p:cNvSpPr txBox="1"/>
          <p:nvPr/>
        </p:nvSpPr>
        <p:spPr>
          <a:xfrm>
            <a:off x="8000975" y="4632075"/>
            <a:ext cx="3337500" cy="14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Долго заводить задачи вручную</a:t>
            </a:r>
            <a:endParaRPr sz="1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Трудно приоритизировать</a:t>
            </a:r>
            <a:endParaRPr sz="1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Боится «слишком умного» AI</a:t>
            </a:r>
            <a:endParaRPr sz="1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Сомнения в приватности</a:t>
            </a:r>
            <a:endParaRPr sz="1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Надо, чтобы работало везде</a:t>
            </a:r>
            <a:endParaRPr sz="1700"/>
          </a:p>
        </p:txBody>
      </p:sp>
      <p:sp>
        <p:nvSpPr>
          <p:cNvPr id="150" name="Google Shape;150;p17"/>
          <p:cNvSpPr txBox="1"/>
          <p:nvPr/>
        </p:nvSpPr>
        <p:spPr>
          <a:xfrm>
            <a:off x="640080" y="653796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Дисциплина: «Стартап в ИТ» • Практика №5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361E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 txBox="1"/>
          <p:nvPr/>
        </p:nvSpPr>
        <p:spPr>
          <a:xfrm>
            <a:off x="640080" y="228600"/>
            <a:ext cx="1091153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5) JTBD (Jobs To Be Done)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640080" y="713232"/>
            <a:ext cx="10911535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EBEBFF"/>
                </a:solidFill>
                <a:latin typeface="Calibri"/>
                <a:ea typeface="Calibri"/>
                <a:cs typeface="Calibri"/>
                <a:sym typeface="Calibri"/>
              </a:rPr>
              <a:t>Формулировки потребностей через задачи и контекст</a:t>
            </a:r>
            <a:endParaRPr/>
          </a:p>
        </p:txBody>
      </p:sp>
      <p:sp>
        <p:nvSpPr>
          <p:cNvPr id="159" name="Google Shape;159;p18"/>
          <p:cNvSpPr/>
          <p:nvPr/>
        </p:nvSpPr>
        <p:spPr>
          <a:xfrm>
            <a:off x="640080" y="1371600"/>
            <a:ext cx="10972800" cy="5120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1E4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 txBox="1"/>
          <p:nvPr/>
        </p:nvSpPr>
        <p:spPr>
          <a:xfrm>
            <a:off x="960120" y="1600200"/>
            <a:ext cx="10332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JTBD для персоны</a:t>
            </a:r>
            <a:endParaRPr sz="2300"/>
          </a:p>
        </p:txBody>
      </p:sp>
      <p:sp>
        <p:nvSpPr>
          <p:cNvPr id="161" name="Google Shape;161;p18"/>
          <p:cNvSpPr txBox="1"/>
          <p:nvPr/>
        </p:nvSpPr>
        <p:spPr>
          <a:xfrm>
            <a:off x="914425" y="2274594"/>
            <a:ext cx="104241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Когда у меня появляется новая задача с дедлайном, я хочу быстро разложить её на шаги и оценить сроки, чтобы понять, что делать сего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дня, несмотря на нехватку времени и внимания.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Когда у меня много параллельных дел (учёба/работа/личное), я хочу автоматически расставить приоритеты и выделить 1–3 главных фокуса дня, чтобы не распыляться, несмотря на постоянные отвлечения.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Когда я регулярно «срываю план», я хочу видеть причины (что блокирует, что переоценено) и получать корректировки, чтобы улучшать свою дисциплину, несмотря на усталость и стресс.</a:t>
            </a:r>
            <a:endParaRPr sz="1800"/>
          </a:p>
        </p:txBody>
      </p:sp>
      <p:sp>
        <p:nvSpPr>
          <p:cNvPr id="162" name="Google Shape;162;p18"/>
          <p:cNvSpPr txBox="1"/>
          <p:nvPr/>
        </p:nvSpPr>
        <p:spPr>
          <a:xfrm>
            <a:off x="640080" y="653796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Дисциплина: «Стартап в ИТ» • Практика №5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9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361E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9"/>
          <p:cNvSpPr txBox="1"/>
          <p:nvPr/>
        </p:nvSpPr>
        <p:spPr>
          <a:xfrm>
            <a:off x="640080" y="228600"/>
            <a:ext cx="1091153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6) Инсайты о сегменте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640080" y="713232"/>
            <a:ext cx="10911535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EBEBFF"/>
                </a:solidFill>
                <a:latin typeface="Calibri"/>
                <a:ea typeface="Calibri"/>
                <a:cs typeface="Calibri"/>
                <a:sym typeface="Calibri"/>
              </a:rPr>
              <a:t>Что важное поняли и что влияет на продукт/коммуникацию</a:t>
            </a:r>
            <a:endParaRPr/>
          </a:p>
        </p:txBody>
      </p:sp>
      <p:sp>
        <p:nvSpPr>
          <p:cNvPr id="171" name="Google Shape;171;p19"/>
          <p:cNvSpPr/>
          <p:nvPr/>
        </p:nvSpPr>
        <p:spPr>
          <a:xfrm>
            <a:off x="640080" y="1371600"/>
            <a:ext cx="10972800" cy="5120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1E4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9"/>
          <p:cNvSpPr txBox="1"/>
          <p:nvPr/>
        </p:nvSpPr>
        <p:spPr>
          <a:xfrm>
            <a:off x="960120" y="1600200"/>
            <a:ext cx="10332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Инсайты</a:t>
            </a:r>
            <a:endParaRPr sz="2300"/>
          </a:p>
        </p:txBody>
      </p:sp>
      <p:sp>
        <p:nvSpPr>
          <p:cNvPr id="173" name="Google Shape;173;p19"/>
          <p:cNvSpPr txBox="1"/>
          <p:nvPr/>
        </p:nvSpPr>
        <p:spPr>
          <a:xfrm>
            <a:off x="914425" y="2396544"/>
            <a:ext cx="10424100" cy="28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«Боль» не в отсутствии списка задач, а в переходе от хаоса к плану: разбиение, оценка времени, выбор следующего шага.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Люди готовы к AI‑подсказкам, но хотят контроля: «покажи почему» + возможность быстро править.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Главный риск — не начать и не вернуться: удержание важнее «красивых» функций (ритуалы, напоминания, ежедневный план).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Интеграции критичны, но на MVP достаточно 1–2 (календарь + импорт/экспорт).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Приватность и доверие — фактор выбора даже для студентов: важно объяснить хранение данных и режимы (локально/облако).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Сегмент чувствителен к цене: нужен freemium и понятная ценность платной версии (экономия времени).</a:t>
            </a:r>
            <a:endParaRPr sz="1800"/>
          </a:p>
        </p:txBody>
      </p:sp>
      <p:sp>
        <p:nvSpPr>
          <p:cNvPr id="174" name="Google Shape;174;p19"/>
          <p:cNvSpPr txBox="1"/>
          <p:nvPr/>
        </p:nvSpPr>
        <p:spPr>
          <a:xfrm>
            <a:off x="640080" y="653796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Дисциплина: «Стартап в ИТ» • Практика №5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361E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640080" y="228600"/>
            <a:ext cx="1091153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7) Гипотезы и план проверки</a:t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640080" y="713232"/>
            <a:ext cx="10911535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EBEBFF"/>
                </a:solidFill>
                <a:latin typeface="Calibri"/>
                <a:ea typeface="Calibri"/>
                <a:cs typeface="Calibri"/>
                <a:sym typeface="Calibri"/>
              </a:rPr>
              <a:t>Что проверяем в первую очередь</a:t>
            </a:r>
            <a:endParaRPr/>
          </a:p>
        </p:txBody>
      </p:sp>
      <p:sp>
        <p:nvSpPr>
          <p:cNvPr id="183" name="Google Shape;183;p20"/>
          <p:cNvSpPr/>
          <p:nvPr/>
        </p:nvSpPr>
        <p:spPr>
          <a:xfrm>
            <a:off x="640080" y="1371600"/>
            <a:ext cx="5806440" cy="5120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1E4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960120" y="1600200"/>
            <a:ext cx="51663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Гипотезы </a:t>
            </a:r>
            <a:endParaRPr sz="2300"/>
          </a:p>
        </p:txBody>
      </p:sp>
      <p:sp>
        <p:nvSpPr>
          <p:cNvPr id="185" name="Google Shape;185;p20"/>
          <p:cNvSpPr txBox="1"/>
          <p:nvPr/>
        </p:nvSpPr>
        <p:spPr>
          <a:xfrm>
            <a:off x="914375" y="2021074"/>
            <a:ext cx="5257800" cy="42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H1: Для ИТ‑студентов ключевая боль — разбиение задачи и оценка времени; они будут использовать продукт ежедневно, если он делает это за ≤60 секунд.</a:t>
            </a:r>
            <a:endParaRPr sz="1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H2: Автоприоритизация (1–3 фокуса дня) снижает стресс и повышает выполнение задач; ценность выше, чем у «просто списка».</a:t>
            </a:r>
            <a:endParaRPr sz="1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H3: Прозрачные объяснения рекомендаций AI повышают доверие и удержание vs «чёрный ящик».</a:t>
            </a:r>
            <a:endParaRPr sz="1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H4: Интеграция с календарём (импорт дедлайнов/слотов) увеличит активацию и уменьшит ручной ввод.</a:t>
            </a:r>
            <a:endParaRPr sz="1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H5: Freemium + недорогой тариф (студентский) даст конверсию в оплату, если показать экономию времени (например, ≥3 часа/нед).</a:t>
            </a:r>
            <a:endParaRPr sz="1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H6: Встроенные шаблоны под учебу/собес/проект ускорят онбординг и дадут выше retention.</a:t>
            </a:r>
            <a:endParaRPr sz="1700"/>
          </a:p>
        </p:txBody>
      </p:sp>
      <p:sp>
        <p:nvSpPr>
          <p:cNvPr id="186" name="Google Shape;186;p20"/>
          <p:cNvSpPr/>
          <p:nvPr/>
        </p:nvSpPr>
        <p:spPr>
          <a:xfrm>
            <a:off x="6629400" y="1371600"/>
            <a:ext cx="4983480" cy="5120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1E4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6949440" y="1600200"/>
            <a:ext cx="4343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ТОП‑3 гипотезы — проверка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6903683" y="2283944"/>
            <a:ext cx="44349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H1: </a:t>
            </a:r>
            <a:r>
              <a:rPr lang="en-US" sz="18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интервью (10–12) + кликабельный прототип. Критерий: ≥70% называют разбиение/оценку как боль, ≥50% хотят попробовать.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H2: </a:t>
            </a:r>
            <a:r>
              <a:rPr lang="en-US" sz="18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Лендинг с оффером «фокус дня» + демо‑видео. Критерий: конверсия в заявку ≥8–12% у трафика из ИТ‑сообществ.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H3: </a:t>
            </a:r>
            <a:r>
              <a:rPr lang="en-US" sz="18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A/B в прототипе: AI с объяснениями vs без. Критерий: в тесте 5–7 дней выше ежедневная активность/удержание на ≥15%.</a:t>
            </a:r>
            <a:endParaRPr sz="1800"/>
          </a:p>
        </p:txBody>
      </p:sp>
      <p:sp>
        <p:nvSpPr>
          <p:cNvPr id="189" name="Google Shape;189;p20"/>
          <p:cNvSpPr txBox="1"/>
          <p:nvPr/>
        </p:nvSpPr>
        <p:spPr>
          <a:xfrm>
            <a:off x="640080" y="653796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Дисциплина: «Стартап в ИТ» • Практика №5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