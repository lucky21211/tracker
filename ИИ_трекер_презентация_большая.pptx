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04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Представиться: Трекер ИИ - это навигатор по AI-инструментам. Объяснить ценность одной фразой: помогает быстро найти лучший AI-сервис под конкретную задачу.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0:30-1:10. Проблема: AI-инструментов слишком много, человек не понимает, что выбрать. Подчеркнуть последствия: время, деньги, низкий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1:10-1:40. Назвать четыре сегмента и единый JTBD: быстро выбрать AI-инструмент под задачу.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1:40-2:15. Решение: пользователь описывает задачу, система рекомендует инструмент и объясняет, как его применить. Сказать, что MVP уже 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2:15-2:45. Объяснить рынок как учебную оценку. Важно не спорить за точность, а показать логику: большой AI SaaS рынок, затем наша доступная ниша.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2:45-3:15. Конкуренты есть, но большинство решают задачу каталога. Наша ставка - персонализация и сценарии применения.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3:15-3:45. Деньги: free вход, premium для продвинутого подбора, B2B как дополнительная модель. Подчеркнуть, что это гипотезы, которые инвестиции помогут проверить.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3:45-4:20. Рост: SEO, короткий контент, сообщества и referral. Объяснить growth loop: подборками удобно делиться.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4:20-4:50. Что уже подтверждено: проблема и интерес. Что дальше: измеримый traction, retention, платные пользователи.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4:50-5:25. Финмодель простая: год 1 - доказать спрос и монетизацию, год 2 - масштабировать. Все цифры как учебные допущения.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5:25-5:55. Команда закрывает продукт, AI-разработку, UX и growth. Главный тезис - быстрая проверка гипотез.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5:55-6:30. Закрытие: просим $250k, чтобы доказать traction за 6 месяцев. Акцент: инвестор нужен early-stage AI-focused, потому что он понимает риск MVP и рынок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Навигатор по миру AI-инструментов для людей и команд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" y="260604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365DFF"/>
          </a:solidFill>
          <a:ln w="12700">
            <a:solidFill>
              <a:srgbClr val="365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96112" y="267462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+ первые пользователи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71800" y="260604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7D5CFF"/>
          </a:solidFill>
          <a:ln w="12700">
            <a:solidFill>
              <a:srgbClr val="7D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081528" y="267462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/ Seed ask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29400" y="960120"/>
            <a:ext cx="4297680" cy="4389120"/>
          </a:xfrm>
          <a:prstGeom prst="roundRect">
            <a:avLst>
              <a:gd name="adj" fmla="val 3404"/>
            </a:avLst>
          </a:prstGeom>
          <a:solidFill>
            <a:srgbClr val="10182F"/>
          </a:solidFill>
          <a:ln w="12700">
            <a:solidFill>
              <a:srgbClr val="1018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 rot="2100000">
            <a:off x="7040880" y="1417320"/>
            <a:ext cx="3474720" cy="3474720"/>
          </a:xfrm>
          <a:prstGeom prst="arc">
            <a:avLst/>
          </a:prstGeom>
          <a:solidFill>
            <a:srgbClr val="365DFF">
              <a:alpha val="60000"/>
            </a:srgbClr>
          </a:solidFill>
          <a:ln w="12700">
            <a:solidFill>
              <a:srgbClr val="365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7927848" y="2331720"/>
            <a:ext cx="1691640" cy="169164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02168" y="29169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6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Пользовательский хаос в быстрорастущем рынке AI-сервисов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8EEFF">
              <a:alpha val="94000"/>
            </a:srgbClr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77824" y="1554480"/>
            <a:ext cx="3511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Сотни AI-инструментов появляются быстрее, чем пользователи успевают их проверять.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27889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AF9FF">
              <a:alpha val="94000"/>
            </a:srgbClr>
          </a:solidFill>
          <a:ln w="12700">
            <a:solidFill>
              <a:srgbClr val="EAF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77824" y="292608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происходит через случайные подборки, рекомендации в соцсетях и ручной поиск.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411480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3DD">
              <a:alpha val="94000"/>
            </a:srgbClr>
          </a:solidFill>
          <a:ln w="12700">
            <a:solidFill>
              <a:srgbClr val="FFF3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77824" y="42519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Последствие: потеря времени, низкое внедрение AI и слабая отдача от инструментов.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2468880"/>
            <a:ext cx="914400" cy="594360"/>
          </a:xfrm>
          <a:prstGeom prst="rightArrow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4343400" cy="3749040"/>
          </a:xfrm>
          <a:prstGeom prst="roundRect">
            <a:avLst>
              <a:gd name="adj" fmla="val 317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81228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сигнал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812280" y="226771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хотят не “ещё один каталог”, а понятную рекомендацию: какой инструмент выбрать под задачу, бюджет и уровень навыка.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3977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7B8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Основание: интервью и обратная связь от первых тестовых пользователей; учебное допущение команды.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нужно быстро выбирать и внедрять AI-инструменты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941832" y="1673352"/>
            <a:ext cx="457200" cy="457200"/>
          </a:xfrm>
          <a:prstGeom prst="ellipse">
            <a:avLst/>
          </a:prstGeom>
          <a:solidFill>
            <a:srgbClr val="365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554480" y="16550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Фрилансер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29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инструмент, который экономит время и повышает доход.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108192" y="1673352"/>
            <a:ext cx="457200" cy="457200"/>
          </a:xfrm>
          <a:prstGeom prst="ellipse">
            <a:avLst/>
          </a:prstGeom>
          <a:solidFill>
            <a:srgbClr val="7D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720840" y="16550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Маркетолог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029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подобрать AI для контента, аналитики и креативов.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941832" y="3593592"/>
            <a:ext cx="457200" cy="457200"/>
          </a:xfrm>
          <a:prstGeom prst="ellipse">
            <a:avLst/>
          </a:prstGeom>
          <a:solidFill>
            <a:srgbClr val="1FB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554480" y="35753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Студент/Junior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Понять, какие AI-сервисы реально помогают учиться и работать.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333756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108192" y="3593592"/>
            <a:ext cx="457200" cy="457200"/>
          </a:xfrm>
          <a:prstGeom prst="ellipse">
            <a:avLst/>
          </a:prstGeom>
          <a:solidFill>
            <a:srgbClr val="FFB2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720840" y="35753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Малый бизнес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AI без сложного консалтинга и долгого внедрения.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5840" y="5559552"/>
            <a:ext cx="9966960" cy="566928"/>
          </a:xfrm>
          <a:prstGeom prst="roundRect">
            <a:avLst>
              <a:gd name="adj" fmla="val 19355"/>
            </a:avLst>
          </a:prstGeom>
          <a:solidFill>
            <a:srgbClr val="10182F"/>
          </a:solidFill>
          <a:ln w="12700">
            <a:solidFill>
              <a:srgbClr val="1018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325880" y="573328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JTBD: “Помоги быстро найти AI-инструмент под мою задачу и понять, стоит ли его внедрять”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каталога к персональному AI-навигатору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задачи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22199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цель, роль, бюджет, уровень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794760" y="2148840"/>
            <a:ext cx="411480" cy="411480"/>
          </a:xfrm>
          <a:prstGeom prst="chevron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6177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578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22199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и сравнение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360920" y="2148840"/>
            <a:ext cx="411480" cy="411480"/>
          </a:xfrm>
          <a:prstGeom prst="chevron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81838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239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23960" y="222199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cases, чек-листы, дайджест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86868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сделано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4400" y="4828032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078992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с базовым каталогом и логикой рекомендаций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5330952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078992" y="5257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UX-прототип пользовательского пути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4828032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291072" y="4715489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тестовые пользователи и feedback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5330952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291072" y="52349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freemium + B2B аналитика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/ SAM / SOM - учебная оценка сверху вниз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6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$20B+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глобальный рынок AI productivity / AI SaaS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28032" y="1417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73752" y="20756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AI discovery + SMB productivity сегмент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58200" y="1417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B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$20-50M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503920" y="20756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достижимая ниша за 3-5 лет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3154680"/>
            <a:ext cx="10241280" cy="777240"/>
          </a:xfrm>
          <a:prstGeom prst="trapezoid">
            <a:avLst/>
          </a:prstGeom>
          <a:solidFill>
            <a:srgbClr val="DDE7FF"/>
          </a:solidFill>
          <a:ln w="12700">
            <a:solidFill>
              <a:srgbClr val="DDE7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2331720" y="3977640"/>
            <a:ext cx="7680960" cy="777240"/>
          </a:xfrm>
          <a:prstGeom prst="trapezoid">
            <a:avLst/>
          </a:prstGeom>
          <a:solidFill>
            <a:srgbClr val="DCD7FF"/>
          </a:solidFill>
          <a:ln w="12700">
            <a:solidFill>
              <a:srgbClr val="DCD7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749040" y="4800600"/>
            <a:ext cx="4846320" cy="777240"/>
          </a:xfrm>
          <a:prstGeom prst="trapezoid">
            <a:avLst/>
          </a:prstGeom>
          <a:solidFill>
            <a:srgbClr val="D7F6E8"/>
          </a:solidFill>
          <a:ln w="12700">
            <a:solidFill>
              <a:srgbClr val="D7F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005840" y="58978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i="1" dirty="0">
                <a:solidFill>
                  <a:srgbClr val="6D7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Допущения: рост AI SaaS, спрос на productivity-инструменты, монетизация через подписку/партнерства. Источник: учебная модель и допущение команды.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каталог: позиционирование вокруг персонализации и use-case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188720" y="5166360"/>
            <a:ext cx="9509760" cy="0"/>
          </a:xfrm>
          <a:prstGeom prst="line">
            <a:avLst/>
          </a:prstGeom>
          <a:noFill/>
          <a:ln w="15240">
            <a:solidFill>
              <a:srgbClr val="AAB4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943600" y="1417320"/>
            <a:ext cx="0" cy="4343400"/>
          </a:xfrm>
          <a:prstGeom prst="line">
            <a:avLst/>
          </a:prstGeom>
          <a:noFill/>
          <a:ln w="15240">
            <a:solidFill>
              <a:srgbClr val="AAB4C5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60120" y="5394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6"/>
                </a:solidFill>
              </a:rPr>
              <a:t>Общий каталог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5394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6"/>
                </a:solidFill>
              </a:rPr>
              <a:t>Персональный выбор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7220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6"/>
                </a:solidFill>
              </a:rPr>
              <a:t>Use-case oriented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434340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B23F"/>
          </a:solidFill>
          <a:ln w="12700">
            <a:solidFill>
              <a:srgbClr val="FFB23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834640" y="445312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931920" y="338328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7D5CFF"/>
          </a:solidFill>
          <a:ln w="12700">
            <a:solidFill>
              <a:srgbClr val="7D5C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023360" y="349300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297680" y="411480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7C3FF"/>
          </a:solidFill>
          <a:ln w="12700">
            <a:solidFill>
              <a:srgbClr val="27C3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389120" y="422452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Futurepedia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726680" y="224028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818120" y="235000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6812280" y="41605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Выигрышная зона: персональные рекомендации + объяснение применения под конкретную задачу.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с переходом в подписку и B2B-data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2971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каталог, базовый подбор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154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 err="1">
                <a:solidFill>
                  <a:srgbClr val="182033"/>
                </a:solidFill>
                <a:latin typeface="Arial" pitchFamily="34" charset="0"/>
                <a:cs typeface="Arial" pitchFamily="34" charset="-120"/>
              </a:rPr>
              <a:t>Бесплтано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2971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подборки, сохранения, дайджест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3154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300-500 руб.</a:t>
            </a:r>
            <a:r>
              <a:rPr lang="en-US" sz="1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400" b="1" dirty="0" err="1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508760"/>
            <a:ext cx="2971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4582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7D5CFF"/>
                </a:solidFill>
                <a:latin typeface="Arial" pitchFamily="34" charset="0"/>
                <a:cs typeface="Arial" pitchFamily="34" charset="-120"/>
              </a:rPr>
              <a:t>UItra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трендов, </a:t>
            </a:r>
            <a:r>
              <a:rPr lang="ru-RU" sz="12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поддержка ИИ для составления «больших целей» + больше токенов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58200" y="3154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4864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D768A"/>
                </a:solidFill>
              </a:rPr>
              <a:t>Основание: гипотеза команды для учебной модели; требуется проверка через paid conversion и retention.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07CEC4B0-2E7B-5D77-7A04-BEB8335B50C5}"/>
              </a:ext>
            </a:extLst>
          </p:cNvPr>
          <p:cNvSpPr/>
          <p:nvPr/>
        </p:nvSpPr>
        <p:spPr>
          <a:xfrm>
            <a:off x="8503920" y="3154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1000-1200 руб.</a:t>
            </a:r>
            <a:r>
              <a:rPr lang="en-US" sz="14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400" b="1" dirty="0" err="1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/ Growth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выходим на первых 10k пользователей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691640" y="1444751"/>
            <a:ext cx="914400" cy="914400"/>
          </a:xfrm>
          <a:prstGeom prst="ellipse">
            <a:avLst/>
          </a:prstGeom>
          <a:solidFill>
            <a:srgbClr val="365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892808" y="179222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540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страницы инструментов + use cases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435608"/>
            <a:ext cx="914400" cy="914400"/>
          </a:xfrm>
          <a:prstGeom prst="ellipse">
            <a:avLst/>
          </a:prstGeom>
          <a:solidFill>
            <a:srgbClr val="27C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681728" y="179222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265176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0540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TikTok/YouTube короткие обзоры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4908" y="1435608"/>
            <a:ext cx="914400" cy="914400"/>
          </a:xfrm>
          <a:prstGeom prst="ellipse">
            <a:avLst/>
          </a:prstGeom>
          <a:solidFill>
            <a:srgbClr val="7D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470648" y="179222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0540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AI-чаты, Product Hunt, Telegram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0" y="1435608"/>
            <a:ext cx="914400" cy="914400"/>
          </a:xfrm>
          <a:prstGeom prst="ellipse">
            <a:avLst/>
          </a:prstGeom>
          <a:solidFill>
            <a:srgbClr val="1FB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Text 16"/>
          <p:cNvSpPr/>
          <p:nvPr/>
        </p:nvSpPr>
        <p:spPr>
          <a:xfrm>
            <a:off x="10259568" y="179222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265176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9720" y="30540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подборки и списки, которыми делятся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97280" y="4617720"/>
            <a:ext cx="9784080" cy="658368"/>
          </a:xfrm>
          <a:prstGeom prst="roundRect">
            <a:avLst>
              <a:gd name="adj" fmla="val 13889"/>
            </a:avLst>
          </a:prstGeom>
          <a:solidFill>
            <a:srgbClr val="10182F"/>
          </a:solidFill>
          <a:ln w="12700">
            <a:solidFill>
              <a:srgbClr val="1018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325880" y="48463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Growth loop: пользователь получает подборку -&gt; сохраняет/делится -&gt; приходит новый пользователь -&gt; данные улучшают рекомендации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/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подтверждено и что проверяем дальше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005840" y="1554480"/>
            <a:ext cx="10104120" cy="713232"/>
          </a:xfrm>
          <a:prstGeom prst="roundRect">
            <a:avLst>
              <a:gd name="adj" fmla="val 10256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325880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033"/>
                </a:solidFill>
              </a:rPr>
              <a:t>Подтверждено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175564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6"/>
                </a:solidFill>
              </a:rPr>
              <a:t>проблема выбора AI-инструментов через интервью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2880360"/>
            <a:ext cx="10104120" cy="713232"/>
          </a:xfrm>
          <a:prstGeom prst="roundRect">
            <a:avLst>
              <a:gd name="adj" fmla="val 10256"/>
            </a:avLst>
          </a:prstGeom>
          <a:solidFill>
            <a:srgbClr val="EAF9FF"/>
          </a:solidFill>
          <a:ln w="12700">
            <a:solidFill>
              <a:srgbClr val="EAF9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32588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033"/>
                </a:solidFill>
              </a:rPr>
              <a:t>Сделано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308152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6"/>
                </a:solidFill>
              </a:rPr>
              <a:t>MVP, базовый каталог, прототип рекомендаций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4206240"/>
            <a:ext cx="10104120" cy="713232"/>
          </a:xfrm>
          <a:prstGeom prst="roundRect">
            <a:avLst>
              <a:gd name="adj" fmla="val 10256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325880" y="4407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033"/>
                </a:solidFill>
              </a:rPr>
              <a:t>Следующее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44074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6"/>
                </a:solidFill>
              </a:rPr>
              <a:t>retention, paid conversion, первые B2B-пилоты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5715000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5DFF"/>
                </a:solidFill>
              </a:rPr>
              <a:t>Цель на 6 месяцев: перейти от qualitative validation к измеримому traction.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Упрощенный прогноз 12-24 месяца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growth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4343400"/>
            <a:ext cx="36576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828800" y="3977640"/>
            <a:ext cx="685800" cy="365760"/>
          </a:xfrm>
          <a:prstGeom prst="rect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685800" cy="2468880"/>
          </a:xfrm>
          <a:prstGeom prst="rect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664208" y="3685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18745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45262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27248" y="45262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141732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080760" y="17190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2440" y="1719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64040" y="1719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011680"/>
            <a:ext cx="4526280" cy="0"/>
          </a:xfrm>
          <a:prstGeom prst="line">
            <a:avLst/>
          </a:prstGeom>
          <a:noFill/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080760" y="21488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7 000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2514600"/>
            <a:ext cx="4526280" cy="0"/>
          </a:xfrm>
          <a:prstGeom prst="line">
            <a:avLst/>
          </a:prstGeom>
          <a:noFill/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080760" y="26517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92440" y="2651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64040" y="2651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017520"/>
            <a:ext cx="4526280" cy="0"/>
          </a:xfrm>
          <a:prstGeom prst="line">
            <a:avLst/>
          </a:prstGeom>
          <a:noFill/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080760" y="31546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9244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6404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520440"/>
            <a:ext cx="4526280" cy="0"/>
          </a:xfrm>
          <a:prstGeom prst="line">
            <a:avLst/>
          </a:prstGeom>
          <a:noFill/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6080760" y="3657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9244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6404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0120" y="52578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D768A"/>
                </a:solidFill>
              </a:rPr>
              <a:t>Основание: учебная финансовая модель; требуется проверка CAC, paid conversion и retention на реальных каналах.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под быстрый запуск и проверку гипотез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033"/>
                </a:solidFill>
              </a:rPr>
              <a:t>Founder / 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</a:rPr>
              <a:t>видение, пользовательские интервью, roadmap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355080" y="16916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033"/>
                </a:solidFill>
              </a:rPr>
              <a:t>AI &amp; 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057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</a:rPr>
              <a:t>рекомендательный движок, интеграции, данные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033"/>
                </a:solidFill>
              </a:rPr>
              <a:t>Frontend / UX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749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</a:rPr>
              <a:t>онбординг, каталог, пользовательский опыт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310896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355080" y="3383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033"/>
                </a:solidFill>
              </a:rPr>
              <a:t>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</a:rPr>
              <a:t>SEO, social, communities, эксперименты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5486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5DFF"/>
                </a:solidFill>
              </a:rPr>
              <a:t>Почему команда: понимает AI-рынок, быстро собирает MVP и умеет проверять продуктовые гипотезы.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+ Investor Persona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привлекаем и на что пойдут деньги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</a:rPr>
              <a:t>Основной инвестор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221992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216152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AI-focused early-stage фонд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651760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216152" y="2578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Стадия: MVP -&gt; первые клиенты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3081528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216152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Чек: $100k-500k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216152" y="3438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хочет видеть: traction, retention, пилоты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6"/>
                </a:solidFill>
              </a:rPr>
              <a:t>Альтернатива: AI-акселератор / корпоративный инвестор с чеком $25k-150k и фокусом на ecosystem/EdTech/productivity.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033"/>
                </a:solidFill>
              </a:rPr>
              <a:t>Оффер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121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65DFF"/>
                </a:solidFill>
              </a:rPr>
              <a:t>$250k SAFE / Convertible Note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6"/>
                </a:solidFill>
              </a:rPr>
              <a:t>Use of funds: продукт 35%, growth 25%, инфраструктура 15%, команда 15%, аналитика/операции 10%.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703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6"/>
                </a:solidFill>
              </a:rPr>
              <a:t>Milestones 6 месяцев: 10k MAU, D30 retention &gt;25%, paid conversion 5-7%, 3 B2B-пилота, recommendation engine v2.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2033"/>
                </a:solidFill>
              </a:rPr>
              <a:t>Инвестиционно привлекательно: быстрый AI-рынок + узкая проблема выбора + масштабируемая SaaS/data-модель.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1111</Words>
  <Application>Microsoft Office PowerPoint</Application>
  <PresentationFormat>Широкоэкранный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Учебный проект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ИИ - инвестиционный дек</dc:title>
  <dc:subject>Трекер ИИ Investment Deck</dc:subject>
  <dc:creator>OpenAI</dc:creator>
  <cp:lastModifiedBy>Данила Ковалев</cp:lastModifiedBy>
  <cp:revision>2</cp:revision>
  <dcterms:created xsi:type="dcterms:W3CDTF">2026-05-07T10:31:08Z</dcterms:created>
  <dcterms:modified xsi:type="dcterms:W3CDTF">2026-05-07T10:42:22Z</dcterms:modified>
</cp:coreProperties>
</file>