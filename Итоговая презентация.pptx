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4"/>
  </p:notesMasterIdLst>
  <p:sldIdLst>
    <p:sldId id="256" r:id="rId2"/>
    <p:sldId id="268" r:id="rId3"/>
    <p:sldId id="263" r:id="rId4"/>
    <p:sldId id="257" r:id="rId5"/>
    <p:sldId id="258" r:id="rId6"/>
    <p:sldId id="259" r:id="rId7"/>
    <p:sldId id="260" r:id="rId8"/>
    <p:sldId id="261" r:id="rId9"/>
    <p:sldId id="265" r:id="rId10"/>
    <p:sldId id="274" r:id="rId11"/>
    <p:sldId id="269" r:id="rId12"/>
    <p:sldId id="273" r:id="rId13"/>
  </p:sldIdLst>
  <p:sldSz cx="14630400" cy="8229600"/>
  <p:notesSz cx="8229600" cy="14630400"/>
  <p:embeddedFontLst>
    <p:embeddedFont>
      <p:font typeface="Anton" pitchFamily="2" charset="0"/>
      <p:regular r:id="rId15"/>
    </p:embeddedFont>
    <p:embeddedFont>
      <p:font typeface="Fira Sans" panose="020B05030500000200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" name="Google Shape;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548640" y="7627621"/>
            <a:ext cx="25603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749040" y="7627621"/>
            <a:ext cx="34747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7863840" y="7627621"/>
            <a:ext cx="256032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4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75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7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/>
          <p:nvPr/>
        </p:nvSpPr>
        <p:spPr>
          <a:xfrm>
            <a:off x="6280190" y="1940362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4450"/>
              <a:buFont typeface="Anton"/>
              <a:buNone/>
            </a:pPr>
            <a:r>
              <a:rPr lang="ru-RU" sz="4450" dirty="0">
                <a:solidFill>
                  <a:srgbClr val="FA95AF"/>
                </a:solidFill>
                <a:sym typeface="Anton"/>
              </a:rPr>
              <a:t>ИИ Трекер задач</a:t>
            </a:r>
            <a:endParaRPr sz="4450" b="0" i="0" u="none" strike="noStrike" cap="none" dirty="0"/>
          </a:p>
        </p:txBody>
      </p:sp>
      <p:sp>
        <p:nvSpPr>
          <p:cNvPr id="48" name="Google Shape;48;p10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85E834-3148-A352-73CE-DD6C41341400}"/>
              </a:ext>
            </a:extLst>
          </p:cNvPr>
          <p:cNvSpPr txBox="1"/>
          <p:nvPr/>
        </p:nvSpPr>
        <p:spPr>
          <a:xfrm>
            <a:off x="6437376" y="3606394"/>
            <a:ext cx="68543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Команда №2 ЭФБО-08-23</a:t>
            </a:r>
          </a:p>
          <a:p>
            <a:endParaRPr lang="ru-RU" sz="1600" dirty="0">
              <a:solidFill>
                <a:schemeClr val="bg1"/>
              </a:solidFill>
            </a:endParaRPr>
          </a:p>
          <a:p>
            <a:r>
              <a:rPr lang="ru-RU" sz="1600" dirty="0">
                <a:solidFill>
                  <a:schemeClr val="bg1"/>
                </a:solidFill>
              </a:rPr>
              <a:t>Состав:</a:t>
            </a:r>
          </a:p>
          <a:p>
            <a:r>
              <a:rPr lang="ru-RU" sz="1600" dirty="0">
                <a:solidFill>
                  <a:schemeClr val="bg1"/>
                </a:solidFill>
              </a:rPr>
              <a:t>Ковалев Данила</a:t>
            </a:r>
          </a:p>
          <a:p>
            <a:r>
              <a:rPr lang="ru-RU" sz="1600" dirty="0">
                <a:solidFill>
                  <a:schemeClr val="bg1"/>
                </a:solidFill>
              </a:rPr>
              <a:t>Никоноров Кирилл</a:t>
            </a:r>
          </a:p>
          <a:p>
            <a:r>
              <a:rPr lang="ru-RU" sz="1600" dirty="0" err="1">
                <a:solidFill>
                  <a:schemeClr val="bg1"/>
                </a:solidFill>
              </a:rPr>
              <a:t>Щепелев</a:t>
            </a:r>
            <a:r>
              <a:rPr lang="ru-RU" sz="1600" dirty="0">
                <a:solidFill>
                  <a:schemeClr val="bg1"/>
                </a:solidFill>
              </a:rPr>
              <a:t> Кирилл</a:t>
            </a:r>
          </a:p>
          <a:p>
            <a:r>
              <a:rPr lang="ru-RU" sz="1600" dirty="0">
                <a:solidFill>
                  <a:schemeClr val="bg1"/>
                </a:solidFill>
              </a:rPr>
              <a:t>Смоляков Иван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00628-3B61-8607-B85D-3F845CF886A8}"/>
              </a:ext>
            </a:extLst>
          </p:cNvPr>
          <p:cNvSpPr txBox="1"/>
          <p:nvPr/>
        </p:nvSpPr>
        <p:spPr>
          <a:xfrm>
            <a:off x="6280190" y="2830982"/>
            <a:ext cx="5415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Дисциплина: Стартап в информационных технологиях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" y="1828800"/>
            <a:ext cx="14630034" cy="1207008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502920"/>
            <a:ext cx="13258800" cy="78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sz="4400" b="1" dirty="0">
                <a:solidFill>
                  <a:srgbClr val="FA95AF"/>
                </a:solidFill>
                <a:latin typeface="Anton"/>
              </a:rPr>
              <a:t>О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продукте</a:t>
            </a:r>
            <a:r>
              <a:rPr lang="en-US"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: </a:t>
            </a:r>
            <a:r>
              <a:rPr lang="en-US"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Трекер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ИИ</a:t>
            </a:r>
            <a:endParaRPr sz="1680" b="1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68097" y="2684678"/>
            <a:ext cx="13093842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192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Формирование портрета потребительского сегмента — проект «Трекер ИИ»</a:t>
            </a:r>
            <a:endParaRPr sz="1680"/>
          </a:p>
        </p:txBody>
      </p:sp>
      <p:sp>
        <p:nvSpPr>
          <p:cNvPr id="88" name="Google Shape;88;p13"/>
          <p:cNvSpPr/>
          <p:nvPr/>
        </p:nvSpPr>
        <p:spPr>
          <a:xfrm>
            <a:off x="768096" y="2084832"/>
            <a:ext cx="13167360" cy="6144768"/>
          </a:xfrm>
          <a:prstGeom prst="roundRect">
            <a:avLst>
              <a:gd name="adj" fmla="val 16667"/>
            </a:avLst>
          </a:prstGeom>
          <a:solidFill>
            <a:srgbClr val="1F1F2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115438" y="1883400"/>
            <a:ext cx="12399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400" b="1" dirty="0" err="1">
                <a:solidFill>
                  <a:srgbClr val="FA95AF"/>
                </a:solidFill>
                <a:latin typeface="Fira Sans"/>
                <a:ea typeface="Calibri"/>
                <a:cs typeface="Calibri"/>
                <a:sym typeface="Calibri"/>
              </a:rPr>
              <a:t>Коротко</a:t>
            </a:r>
            <a:r>
              <a:rPr lang="en-US" sz="2400" b="1" dirty="0">
                <a:solidFill>
                  <a:srgbClr val="FA95AF"/>
                </a:solidFill>
                <a:latin typeface="Fira Sans"/>
                <a:ea typeface="Calibri"/>
                <a:cs typeface="Calibri"/>
                <a:sym typeface="Calibri"/>
              </a:rPr>
              <a:t> о </a:t>
            </a:r>
            <a:r>
              <a:rPr lang="en-US" sz="2400" b="1" dirty="0" err="1">
                <a:solidFill>
                  <a:srgbClr val="FA95AF"/>
                </a:solidFill>
                <a:latin typeface="Fira Sans"/>
                <a:ea typeface="Calibri"/>
                <a:cs typeface="Calibri"/>
                <a:sym typeface="Calibri"/>
              </a:rPr>
              <a:t>продукте</a:t>
            </a:r>
            <a:endParaRPr sz="252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60560" y="2702250"/>
            <a:ext cx="12508920" cy="3434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160" b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«</a:t>
            </a:r>
            <a:r>
              <a:rPr lang="en-US" sz="21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Трекер</a:t>
            </a:r>
            <a:r>
              <a:rPr lang="en-US" sz="2160" b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ИИ» 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—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инструмент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для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ведения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проектов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с AI‑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подсказками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приоритизация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разбиение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шаги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подсказки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формулировкам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Ценность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быстрее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планировать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меньше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«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залипать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старте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видеть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прогресс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держать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фокус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>
                <a:solidFill>
                  <a:srgbClr val="E0D6DE"/>
                </a:solidFill>
                <a:latin typeface="Fira Sans"/>
              </a:defRPr>
            </a:pPr>
            <a:endParaRPr sz="216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Формат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мобильный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доступ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;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интеграции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с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календарем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мессенджерами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уровне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MVP —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уведомления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endParaRPr sz="216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импорт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defRPr>
                <a:solidFill>
                  <a:srgbClr val="E0D6DE"/>
                </a:solidFill>
                <a:latin typeface="Fira Sans"/>
              </a:defRPr>
            </a:pPr>
            <a:endParaRPr sz="216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Цель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занятия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описать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целевой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сегмент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так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чтобы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можно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было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точнее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сформулировать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ценностное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предложение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гипотезы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для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валидации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" y="1828800"/>
            <a:ext cx="14630034" cy="1207008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85800" y="502920"/>
            <a:ext cx="13258800" cy="78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SzPts val="3400"/>
            </a:pPr>
            <a:r>
              <a:rPr sz="4400" b="1" dirty="0" err="1">
                <a:solidFill>
                  <a:srgbClr val="FA95AF"/>
                </a:solidFill>
                <a:latin typeface="Anton"/>
              </a:rPr>
              <a:t>Проблема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продуктивности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и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прокрастинации</a:t>
            </a:r>
            <a:endParaRPr sz="1680" b="1" dirty="0"/>
          </a:p>
        </p:txBody>
      </p:sp>
      <p:sp>
        <p:nvSpPr>
          <p:cNvPr id="88" name="Google Shape;88;p13"/>
          <p:cNvSpPr/>
          <p:nvPr/>
        </p:nvSpPr>
        <p:spPr>
          <a:xfrm>
            <a:off x="768090" y="2084760"/>
            <a:ext cx="6386760" cy="614484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27410" y="1538441"/>
            <a:ext cx="6468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SzPts val="2300"/>
            </a:pPr>
            <a:r>
              <a:rPr lang="en-US" sz="2400" b="1" dirty="0" err="1">
                <a:solidFill>
                  <a:srgbClr val="FA95AF"/>
                </a:solidFill>
                <a:latin typeface="Fira Sans"/>
                <a:ea typeface="Calibri"/>
                <a:cs typeface="Calibri"/>
                <a:sym typeface="Calibri"/>
              </a:rPr>
              <a:t>Проблема</a:t>
            </a:r>
            <a:endParaRPr sz="252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60410" y="2598571"/>
            <a:ext cx="6094440" cy="454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SzPts val="1800"/>
            </a:pP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Многие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студенты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фрилансеры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работают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без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внешнего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контроля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вынуждены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самостоятельно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управлять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задачами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40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</a:pP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Существующие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трекеры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помогают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удерживать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мотивацию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фокус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40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1800"/>
            </a:pPr>
            <a:r>
              <a:rPr lang="en-US" sz="240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Последствия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-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снижение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продуктивности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срыв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дедлайнов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40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стресс</a:t>
            </a:r>
            <a:r>
              <a:rPr lang="en-US" sz="240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400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7921140" y="2084760"/>
            <a:ext cx="6386760" cy="614484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 descr="Диаграмма ответов в Формах. Вопрос: Чем вы сейчас пользуетесь для планирования дня?. Количество ответов: 46 ответов." title="Чем вы сейчас пользуетесь для планирования дня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2090" y="2765145"/>
            <a:ext cx="6217920" cy="262531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1E4E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pic>
      <p:sp>
        <p:nvSpPr>
          <p:cNvPr id="93" name="Google Shape;93;p13"/>
          <p:cNvSpPr txBox="1"/>
          <p:nvPr/>
        </p:nvSpPr>
        <p:spPr>
          <a:xfrm>
            <a:off x="7921140" y="5652241"/>
            <a:ext cx="6386760" cy="121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 algn="ctr">
              <a:buSzPts val="1800"/>
            </a:pP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основе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ответов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46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респондентов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мы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видим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30%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людей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используют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средства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управления</a:t>
            </a:r>
            <a:r>
              <a:rPr lang="en-US" sz="2400" i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400" i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задачами</a:t>
            </a:r>
            <a:endParaRPr sz="2400" i="1" dirty="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sz="4400" b="1" dirty="0" err="1">
                <a:solidFill>
                  <a:srgbClr val="FA95AF"/>
                </a:solidFill>
                <a:latin typeface="Anton"/>
              </a:rPr>
              <a:t>Сценарий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пользователя</a:t>
            </a:r>
            <a:endParaRPr sz="3550" b="1" i="0" u="none" strike="noStrike" cap="none" dirty="0"/>
          </a:p>
        </p:txBody>
      </p:sp>
      <p:sp>
        <p:nvSpPr>
          <p:cNvPr id="56" name="Google Shape;56;p11"/>
          <p:cNvSpPr/>
          <p:nvPr/>
        </p:nvSpPr>
        <p:spPr>
          <a:xfrm>
            <a:off x="1056748" y="2687360"/>
            <a:ext cx="209395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Пользователь</a:t>
            </a:r>
            <a:endParaRPr sz="2200" b="1" i="0" u="none" strike="noStrike" cap="none" dirty="0"/>
          </a:p>
        </p:txBody>
      </p:sp>
      <p:sp>
        <p:nvSpPr>
          <p:cNvPr id="57" name="Google Shape;57;p11"/>
          <p:cNvSpPr/>
          <p:nvPr/>
        </p:nvSpPr>
        <p:spPr>
          <a:xfrm>
            <a:off x="1077397" y="3345061"/>
            <a:ext cx="2093952" cy="1942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/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студент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/ </a:t>
            </a:r>
            <a:r>
              <a:rPr lang="ru-RU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удаленщики</a:t>
            </a:r>
            <a:endParaRPr sz="2000" b="0" i="0" u="none" strike="noStrike" cap="none" dirty="0"/>
          </a:p>
        </p:txBody>
      </p:sp>
      <p:sp>
        <p:nvSpPr>
          <p:cNvPr id="59" name="Google Shape;59;p11"/>
          <p:cNvSpPr/>
          <p:nvPr/>
        </p:nvSpPr>
        <p:spPr>
          <a:xfrm>
            <a:off x="4640413" y="2687360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Ситуация</a:t>
            </a:r>
            <a:endParaRPr sz="2200" b="1" i="0" u="none" strike="noStrike" cap="none" dirty="0"/>
          </a:p>
        </p:txBody>
      </p:sp>
      <p:sp>
        <p:nvSpPr>
          <p:cNvPr id="60" name="Google Shape;60;p11"/>
          <p:cNvSpPr/>
          <p:nvPr/>
        </p:nvSpPr>
        <p:spPr>
          <a:xfrm>
            <a:off x="4640412" y="3329880"/>
            <a:ext cx="2094071" cy="189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Планирует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день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много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задач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отвлекающие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факторы</a:t>
            </a:r>
            <a:endParaRPr sz="2000" b="0" i="0" u="none" strike="noStrike" cap="none" dirty="0"/>
          </a:p>
        </p:txBody>
      </p:sp>
      <p:sp>
        <p:nvSpPr>
          <p:cNvPr id="62" name="Google Shape;62;p11"/>
          <p:cNvSpPr/>
          <p:nvPr/>
        </p:nvSpPr>
        <p:spPr>
          <a:xfrm>
            <a:off x="7895918" y="2683543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Проблема</a:t>
            </a:r>
            <a:endParaRPr sz="2200" b="1" i="0" u="none" strike="noStrike" cap="none" dirty="0"/>
          </a:p>
        </p:txBody>
      </p:sp>
      <p:sp>
        <p:nvSpPr>
          <p:cNvPr id="63" name="Google Shape;63;p11"/>
          <p:cNvSpPr/>
          <p:nvPr/>
        </p:nvSpPr>
        <p:spPr>
          <a:xfrm>
            <a:off x="7895917" y="3324879"/>
            <a:ext cx="2094071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сохраняет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фокус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бросает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задачи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на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середине</a:t>
            </a:r>
            <a:endParaRPr sz="2000" b="0" i="0" u="none" strike="noStrike" cap="none" dirty="0"/>
          </a:p>
        </p:txBody>
      </p:sp>
      <p:sp>
        <p:nvSpPr>
          <p:cNvPr id="65" name="Google Shape;65;p11"/>
          <p:cNvSpPr/>
          <p:nvPr/>
        </p:nvSpPr>
        <p:spPr>
          <a:xfrm>
            <a:off x="11479581" y="2655847"/>
            <a:ext cx="2094071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Anton"/>
              <a:buNone/>
            </a:pPr>
            <a:r>
              <a:rPr lang="en-US" sz="22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Последствие</a:t>
            </a:r>
            <a:endParaRPr sz="2200" b="1" i="0" u="none" strike="noStrike" cap="none" dirty="0"/>
          </a:p>
        </p:txBody>
      </p:sp>
      <p:sp>
        <p:nvSpPr>
          <p:cNvPr id="66" name="Google Shape;66;p11"/>
          <p:cNvSpPr/>
          <p:nvPr/>
        </p:nvSpPr>
        <p:spPr>
          <a:xfrm>
            <a:off x="11458932" y="3324879"/>
            <a:ext cx="2094071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Срывы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дедлайнов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→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потеря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дохода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и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мотивации</a:t>
            </a:r>
            <a:endParaRPr sz="2000" b="0" i="0" u="none" strike="noStrike" cap="none" dirty="0"/>
          </a:p>
        </p:txBody>
      </p:sp>
      <p:sp>
        <p:nvSpPr>
          <p:cNvPr id="67" name="Google Shape;67;p11"/>
          <p:cNvSpPr/>
          <p:nvPr/>
        </p:nvSpPr>
        <p:spPr>
          <a:xfrm>
            <a:off x="793789" y="631169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2000" b="1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Решение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: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игровой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помощник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,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который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превращает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маленькие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шаги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в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прогресс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и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поддерживает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фокус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ИИ‑</a:t>
            </a:r>
            <a:r>
              <a:rPr lang="en-US" sz="20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подсказками</a:t>
            </a:r>
            <a:r>
              <a:rPr lang="en-US" sz="20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.</a:t>
            </a:r>
            <a:endParaRPr sz="2000" b="0" i="0" u="none" strike="noStrike" cap="none" dirty="0"/>
          </a:p>
        </p:txBody>
      </p:sp>
      <p:sp>
        <p:nvSpPr>
          <p:cNvPr id="68" name="Google Shape;68;p11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sz="4400" b="1" dirty="0" err="1">
                <a:solidFill>
                  <a:srgbClr val="FA95AF"/>
                </a:solidFill>
                <a:latin typeface="Anton"/>
              </a:rPr>
              <a:t>Сегментация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рынка</a:t>
            </a:r>
            <a:endParaRPr sz="3550" b="1" i="0" u="none" strike="noStrike" cap="none" dirty="0"/>
          </a:p>
        </p:txBody>
      </p:sp>
      <p:sp>
        <p:nvSpPr>
          <p:cNvPr id="75" name="Google Shape;75;p12"/>
          <p:cNvSpPr/>
          <p:nvPr/>
        </p:nvSpPr>
        <p:spPr>
          <a:xfrm>
            <a:off x="793790" y="2357438"/>
            <a:ext cx="13042821" cy="3917156"/>
          </a:xfrm>
          <a:prstGeom prst="roundRect">
            <a:avLst>
              <a:gd name="adj" fmla="val 869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76" name="Google Shape;76;p12"/>
          <p:cNvSpPr/>
          <p:nvPr/>
        </p:nvSpPr>
        <p:spPr>
          <a:xfrm>
            <a:off x="801410" y="2365058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77" name="Google Shape;77;p12"/>
          <p:cNvSpPr/>
          <p:nvPr/>
        </p:nvSpPr>
        <p:spPr>
          <a:xfrm>
            <a:off x="1028343" y="2508766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Сегменты</a:t>
            </a:r>
            <a:endParaRPr sz="1750" b="0" i="0" u="none" strike="noStrike" cap="none" dirty="0"/>
          </a:p>
        </p:txBody>
      </p:sp>
      <p:sp>
        <p:nvSpPr>
          <p:cNvPr id="78" name="Google Shape;78;p12"/>
          <p:cNvSpPr/>
          <p:nvPr/>
        </p:nvSpPr>
        <p:spPr>
          <a:xfrm>
            <a:off x="4940379" y="2508766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Ключевые характеристики / потребности</a:t>
            </a:r>
            <a:endParaRPr sz="1750" b="0" i="0" u="none" strike="noStrike" cap="none"/>
          </a:p>
        </p:txBody>
      </p:sp>
      <p:sp>
        <p:nvSpPr>
          <p:cNvPr id="79" name="Google Shape;79;p12"/>
          <p:cNvSpPr/>
          <p:nvPr/>
        </p:nvSpPr>
        <p:spPr>
          <a:xfrm>
            <a:off x="801410" y="3015377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80" name="Google Shape;80;p12"/>
          <p:cNvSpPr/>
          <p:nvPr/>
        </p:nvSpPr>
        <p:spPr>
          <a:xfrm>
            <a:off x="1028343" y="3159085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Студенты</a:t>
            </a:r>
            <a:endParaRPr sz="1750" b="0" i="0" u="none" strike="noStrike" cap="none"/>
          </a:p>
        </p:txBody>
      </p:sp>
      <p:sp>
        <p:nvSpPr>
          <p:cNvPr id="81" name="Google Shape;81;p12"/>
          <p:cNvSpPr/>
          <p:nvPr/>
        </p:nvSpPr>
        <p:spPr>
          <a:xfrm>
            <a:off x="4940379" y="3159085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Короткие сессии, мотивация, социальный элемент</a:t>
            </a:r>
            <a:endParaRPr sz="1750" b="0" i="0" u="none" strike="noStrike" cap="none"/>
          </a:p>
        </p:txBody>
      </p:sp>
      <p:sp>
        <p:nvSpPr>
          <p:cNvPr id="82" name="Google Shape;82;p12"/>
          <p:cNvSpPr/>
          <p:nvPr/>
        </p:nvSpPr>
        <p:spPr>
          <a:xfrm>
            <a:off x="801410" y="3665696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83" name="Google Shape;83;p12"/>
          <p:cNvSpPr/>
          <p:nvPr/>
        </p:nvSpPr>
        <p:spPr>
          <a:xfrm>
            <a:off x="1028343" y="3809405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Фрилансеры</a:t>
            </a:r>
            <a:endParaRPr sz="1750" b="0" i="0" u="none" strike="noStrike" cap="none"/>
          </a:p>
        </p:txBody>
      </p:sp>
      <p:sp>
        <p:nvSpPr>
          <p:cNvPr id="84" name="Google Shape;84;p12"/>
          <p:cNvSpPr/>
          <p:nvPr/>
        </p:nvSpPr>
        <p:spPr>
          <a:xfrm>
            <a:off x="4940379" y="3809405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Управление дедлайнами, монетизация времени</a:t>
            </a:r>
            <a:endParaRPr sz="1750" b="0" i="0" u="none" strike="noStrike" cap="none"/>
          </a:p>
        </p:txBody>
      </p:sp>
      <p:sp>
        <p:nvSpPr>
          <p:cNvPr id="85" name="Google Shape;85;p12"/>
          <p:cNvSpPr/>
          <p:nvPr/>
        </p:nvSpPr>
        <p:spPr>
          <a:xfrm>
            <a:off x="801410" y="4316016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1028343" y="4459724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Удалённые специалисты</a:t>
            </a:r>
            <a:endParaRPr sz="1750" b="0" i="0" u="none" strike="noStrike" cap="none"/>
          </a:p>
        </p:txBody>
      </p:sp>
      <p:sp>
        <p:nvSpPr>
          <p:cNvPr id="87" name="Google Shape;87;p12"/>
          <p:cNvSpPr/>
          <p:nvPr/>
        </p:nvSpPr>
        <p:spPr>
          <a:xfrm>
            <a:off x="4940379" y="4459724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Коллаборация, расписание, тайм‑блоки</a:t>
            </a:r>
            <a:endParaRPr sz="1750" b="0" i="0" u="none" strike="noStrike" cap="none"/>
          </a:p>
        </p:txBody>
      </p:sp>
      <p:sp>
        <p:nvSpPr>
          <p:cNvPr id="88" name="Google Shape;88;p12"/>
          <p:cNvSpPr/>
          <p:nvPr/>
        </p:nvSpPr>
        <p:spPr>
          <a:xfrm>
            <a:off x="801410" y="4966335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1028343" y="5110043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Люди с СДВГ</a:t>
            </a:r>
            <a:endParaRPr sz="1750" b="0" i="0" u="none" strike="noStrike" cap="none"/>
          </a:p>
        </p:txBody>
      </p:sp>
      <p:sp>
        <p:nvSpPr>
          <p:cNvPr id="90" name="Google Shape;90;p12"/>
          <p:cNvSpPr/>
          <p:nvPr/>
        </p:nvSpPr>
        <p:spPr>
          <a:xfrm>
            <a:off x="4940379" y="5110043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Нужна структура, частая обратная связь, микро‑награды</a:t>
            </a:r>
            <a:endParaRPr sz="1750" b="0" i="0" u="none" strike="noStrike" cap="none"/>
          </a:p>
        </p:txBody>
      </p:sp>
      <p:sp>
        <p:nvSpPr>
          <p:cNvPr id="91" name="Google Shape;91;p12"/>
          <p:cNvSpPr/>
          <p:nvPr/>
        </p:nvSpPr>
        <p:spPr>
          <a:xfrm>
            <a:off x="801410" y="5616654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1028343" y="5760363"/>
            <a:ext cx="34507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Маленькие проектные команды</a:t>
            </a:r>
            <a:endParaRPr sz="1750" b="0" i="0" u="none" strike="noStrike" cap="none"/>
          </a:p>
        </p:txBody>
      </p:sp>
      <p:sp>
        <p:nvSpPr>
          <p:cNvPr id="93" name="Google Shape;93;p12"/>
          <p:cNvSpPr/>
          <p:nvPr/>
        </p:nvSpPr>
        <p:spPr>
          <a:xfrm>
            <a:off x="4940379" y="5760363"/>
            <a:ext cx="86617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Простой координированный прогресс, соревновательность</a:t>
            </a:r>
            <a:endParaRPr sz="1750" b="0" i="0" u="none" strike="noStrike" cap="none"/>
          </a:p>
        </p:txBody>
      </p:sp>
      <p:sp>
        <p:nvSpPr>
          <p:cNvPr id="94" name="Google Shape;94;p12"/>
          <p:cNvSpPr/>
          <p:nvPr/>
        </p:nvSpPr>
        <p:spPr>
          <a:xfrm>
            <a:off x="793790" y="6529745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Приоритет первого запуска: фрилансеры + студенты (быстрый цикл обратной связи).</a:t>
            </a:r>
            <a:endParaRPr sz="1750" b="0" i="0" u="none" strike="noStrike" cap="none"/>
          </a:p>
        </p:txBody>
      </p:sp>
      <p:sp>
        <p:nvSpPr>
          <p:cNvPr id="95" name="Google Shape;95;p12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450"/>
              <a:buFont typeface="Anton"/>
              <a:buNone/>
            </a:pPr>
            <a:r>
              <a:rPr sz="4400" b="0">
                <a:solidFill>
                  <a:srgbClr val="FA95AF"/>
                </a:solidFill>
                <a:latin typeface="Anton"/>
              </a:rPr>
              <a:t>Market map: позиционирование</a:t>
            </a:r>
            <a:endParaRPr sz="2450" b="0" i="0" u="none" strike="noStrike" cap="none"/>
          </a:p>
        </p:txBody>
      </p:sp>
      <p:sp>
        <p:nvSpPr>
          <p:cNvPr id="102" name="Google Shape;102;p13"/>
          <p:cNvSpPr/>
          <p:nvPr/>
        </p:nvSpPr>
        <p:spPr>
          <a:xfrm>
            <a:off x="1848445" y="184046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550"/>
              <a:buFont typeface="Anton"/>
              <a:buNone/>
            </a:pPr>
            <a:r>
              <a:rPr lang="en-US" sz="20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Сегменты</a:t>
            </a:r>
            <a:endParaRPr sz="2000" b="1" i="0" u="none" strike="noStrike" cap="none" dirty="0"/>
          </a:p>
        </p:txBody>
      </p:sp>
      <p:sp>
        <p:nvSpPr>
          <p:cNvPr id="103" name="Google Shape;103;p13"/>
          <p:cNvSpPr/>
          <p:nvPr/>
        </p:nvSpPr>
        <p:spPr>
          <a:xfrm>
            <a:off x="1840944" y="2504241"/>
            <a:ext cx="6971467" cy="723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Char char="•"/>
            </a:pPr>
            <a:r>
              <a:rPr lang="en-US" sz="16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Студенты</a:t>
            </a:r>
            <a:r>
              <a:rPr lang="en-US" sz="1600" dirty="0">
                <a:ea typeface="Fira Sans"/>
              </a:rPr>
              <a:t>                 </a:t>
            </a:r>
            <a:r>
              <a:rPr lang="ru-RU" sz="16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Фрилансеры</a:t>
            </a:r>
            <a:r>
              <a:rPr lang="en-US" sz="1600" dirty="0">
                <a:ea typeface="Fira Sans"/>
              </a:rPr>
              <a:t>            </a:t>
            </a:r>
            <a:r>
              <a:rPr lang="en-US" sz="160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СДВГ‑</a:t>
            </a:r>
            <a:r>
              <a:rPr lang="en-US" sz="160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аудитория</a:t>
            </a:r>
            <a:endParaRPr sz="1600" b="0" i="0" u="none" strike="noStrike" cap="none" dirty="0"/>
          </a:p>
        </p:txBody>
      </p:sp>
      <p:pic>
        <p:nvPicPr>
          <p:cNvPr id="104" name="Google Shape;104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8446" y="3985022"/>
            <a:ext cx="5532592" cy="2952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/>
          <p:nvPr/>
        </p:nvSpPr>
        <p:spPr>
          <a:xfrm>
            <a:off x="9214009" y="199661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550"/>
              <a:buFont typeface="Anton"/>
              <a:buNone/>
            </a:pPr>
            <a:r>
              <a:rPr lang="en-US" sz="20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Решения</a:t>
            </a:r>
            <a:endParaRPr sz="2000" b="1" i="0" u="none" strike="noStrike" cap="none" dirty="0"/>
          </a:p>
        </p:txBody>
      </p:sp>
      <p:pic>
        <p:nvPicPr>
          <p:cNvPr id="106" name="Google Shape;106;p1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14009" y="2438638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/>
          <p:nvPr/>
        </p:nvSpPr>
        <p:spPr>
          <a:xfrm>
            <a:off x="9888617" y="2438638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Todoist</a:t>
            </a:r>
            <a:endParaRPr sz="1550" b="0" i="0" u="none" strike="noStrike" cap="none"/>
          </a:p>
        </p:txBody>
      </p:sp>
      <p:sp>
        <p:nvSpPr>
          <p:cNvPr id="108" name="Google Shape;108;p13"/>
          <p:cNvSpPr/>
          <p:nvPr/>
        </p:nvSpPr>
        <p:spPr>
          <a:xfrm>
            <a:off x="9888617" y="2796897"/>
            <a:ext cx="2900839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Сильный планинг, слабая геймификация</a:t>
            </a:r>
            <a:endParaRPr sz="1200" b="0" i="0" u="none" strike="noStrike" cap="none"/>
          </a:p>
        </p:txBody>
      </p:sp>
      <p:pic>
        <p:nvPicPr>
          <p:cNvPr id="109" name="Google Shape;109;p1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14009" y="3448764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9888617" y="3448764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Notion</a:t>
            </a:r>
            <a:endParaRPr sz="1550" b="0" i="0" u="none" strike="noStrike" cap="none"/>
          </a:p>
        </p:txBody>
      </p:sp>
      <p:sp>
        <p:nvSpPr>
          <p:cNvPr id="111" name="Google Shape;111;p13"/>
          <p:cNvSpPr/>
          <p:nvPr/>
        </p:nvSpPr>
        <p:spPr>
          <a:xfrm>
            <a:off x="9888617" y="3807023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Гибкость, требует настройки</a:t>
            </a:r>
            <a:endParaRPr sz="1200" b="0" i="0" u="none" strike="noStrike" cap="none"/>
          </a:p>
        </p:txBody>
      </p:sp>
      <p:pic>
        <p:nvPicPr>
          <p:cNvPr id="112" name="Google Shape;112;p1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14009" y="4243626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/>
          <p:nvPr/>
        </p:nvSpPr>
        <p:spPr>
          <a:xfrm>
            <a:off x="9888617" y="4243626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Google Calendar</a:t>
            </a:r>
            <a:endParaRPr sz="1550" b="0" i="0" u="none" strike="noStrike" cap="none"/>
          </a:p>
        </p:txBody>
      </p:sp>
      <p:sp>
        <p:nvSpPr>
          <p:cNvPr id="114" name="Google Shape;114;p13"/>
          <p:cNvSpPr/>
          <p:nvPr/>
        </p:nvSpPr>
        <p:spPr>
          <a:xfrm>
            <a:off x="9888617" y="4601885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Календарь — не трекер поведения</a:t>
            </a:r>
            <a:endParaRPr sz="1200" b="0" i="0" u="none" strike="noStrike" cap="none"/>
          </a:p>
        </p:txBody>
      </p:sp>
      <p:pic>
        <p:nvPicPr>
          <p:cNvPr id="115" name="Google Shape;115;p1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14009" y="5038487"/>
            <a:ext cx="536258" cy="53625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/>
          <p:nvPr/>
        </p:nvSpPr>
        <p:spPr>
          <a:xfrm>
            <a:off x="9888617" y="5038487"/>
            <a:ext cx="1980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258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Anton"/>
              <a:buNone/>
            </a:pPr>
            <a:r>
              <a:rPr lang="en-US" sz="15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Блокнот / ничего</a:t>
            </a:r>
            <a:endParaRPr sz="1550" b="0" i="0" u="none" strike="noStrike" cap="none"/>
          </a:p>
        </p:txBody>
      </p:sp>
      <p:sp>
        <p:nvSpPr>
          <p:cNvPr id="117" name="Google Shape;117;p13"/>
          <p:cNvSpPr/>
          <p:nvPr/>
        </p:nvSpPr>
        <p:spPr>
          <a:xfrm>
            <a:off x="9888617" y="5396746"/>
            <a:ext cx="2900839" cy="215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Нет поддержки фокуса и мотивации</a:t>
            </a:r>
            <a:endParaRPr sz="1200" b="0" i="0" u="none" strike="noStrike" cap="none"/>
          </a:p>
        </p:txBody>
      </p:sp>
      <p:sp>
        <p:nvSpPr>
          <p:cNvPr id="118" name="Google Shape;118;p13"/>
          <p:cNvSpPr/>
          <p:nvPr/>
        </p:nvSpPr>
        <p:spPr>
          <a:xfrm>
            <a:off x="9214009" y="5736431"/>
            <a:ext cx="3575447" cy="974646"/>
          </a:xfrm>
          <a:prstGeom prst="roundRect">
            <a:avLst>
              <a:gd name="adj" fmla="val 2439"/>
            </a:avLst>
          </a:prstGeom>
          <a:solidFill>
            <a:srgbClr val="4903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pic>
        <p:nvPicPr>
          <p:cNvPr id="119" name="Google Shape;119;p1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72362" y="5948124"/>
            <a:ext cx="198001" cy="15835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/>
          <p:nvPr/>
        </p:nvSpPr>
        <p:spPr>
          <a:xfrm>
            <a:off x="9728716" y="5886569"/>
            <a:ext cx="2902387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Fira Sans"/>
              <a:buNone/>
            </a:pPr>
            <a:r>
              <a:rPr lang="en-US" sz="120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Вывод: отсутствует решение с RPG‑составляющей, AI‑поддержкой и фокусом на СДВГ.</a:t>
            </a:r>
            <a:endParaRPr sz="1200" b="0" i="0" u="none" strike="noStrike" cap="none"/>
          </a:p>
        </p:txBody>
      </p:sp>
      <p:sp>
        <p:nvSpPr>
          <p:cNvPr id="121" name="Google Shape;121;p13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3550"/>
              <a:buFont typeface="Anton"/>
              <a:buNone/>
            </a:pPr>
            <a:r>
              <a:rPr sz="4400" b="0">
                <a:solidFill>
                  <a:srgbClr val="FA95AF"/>
                </a:solidFill>
                <a:latin typeface="Anton"/>
              </a:rPr>
              <a:t>Конкуренты: сильные и слабые стороны</a:t>
            </a:r>
            <a:endParaRPr sz="3550" b="0" i="0" u="none" strike="noStrike" cap="none"/>
          </a:p>
        </p:txBody>
      </p:sp>
      <p:sp>
        <p:nvSpPr>
          <p:cNvPr id="128" name="Google Shape;128;p14"/>
          <p:cNvSpPr/>
          <p:nvPr/>
        </p:nvSpPr>
        <p:spPr>
          <a:xfrm>
            <a:off x="793790" y="1956792"/>
            <a:ext cx="13042821" cy="4718447"/>
          </a:xfrm>
          <a:prstGeom prst="roundRect">
            <a:avLst>
              <a:gd name="adj" fmla="val 721"/>
            </a:avLst>
          </a:prstGeom>
          <a:noFill/>
          <a:ln w="9525" cap="flat" cmpd="sng">
            <a:solidFill>
              <a:srgbClr val="FFFFFF">
                <a:alpha val="2392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01410" y="1964412"/>
            <a:ext cx="13027581" cy="650319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30" name="Google Shape;130;p14"/>
          <p:cNvSpPr/>
          <p:nvPr/>
        </p:nvSpPr>
        <p:spPr>
          <a:xfrm>
            <a:off x="1028462" y="2108121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Название</a:t>
            </a:r>
            <a:endParaRPr sz="1750" b="0" i="0" u="none" strike="noStrike" cap="none"/>
          </a:p>
        </p:txBody>
      </p:sp>
      <p:sp>
        <p:nvSpPr>
          <p:cNvPr id="131" name="Google Shape;131;p14"/>
          <p:cNvSpPr/>
          <p:nvPr/>
        </p:nvSpPr>
        <p:spPr>
          <a:xfrm>
            <a:off x="4289108" y="2108121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Тип</a:t>
            </a:r>
            <a:endParaRPr sz="1750" b="0" i="0" u="none" strike="noStrike" cap="none"/>
          </a:p>
        </p:txBody>
      </p:sp>
      <p:sp>
        <p:nvSpPr>
          <p:cNvPr id="132" name="Google Shape;132;p14"/>
          <p:cNvSpPr/>
          <p:nvPr/>
        </p:nvSpPr>
        <p:spPr>
          <a:xfrm>
            <a:off x="7545943" y="2108121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Сильные</a:t>
            </a:r>
            <a:endParaRPr sz="1750" b="0" i="0" u="none" strike="noStrike" cap="none"/>
          </a:p>
        </p:txBody>
      </p:sp>
      <p:sp>
        <p:nvSpPr>
          <p:cNvPr id="133" name="Google Shape;133;p14"/>
          <p:cNvSpPr/>
          <p:nvPr/>
        </p:nvSpPr>
        <p:spPr>
          <a:xfrm>
            <a:off x="10802779" y="2108121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Слабые</a:t>
            </a:r>
            <a:endParaRPr sz="1750" b="0" i="0" u="none" strike="noStrike" cap="none"/>
          </a:p>
        </p:txBody>
      </p:sp>
      <p:sp>
        <p:nvSpPr>
          <p:cNvPr id="134" name="Google Shape;134;p14"/>
          <p:cNvSpPr/>
          <p:nvPr/>
        </p:nvSpPr>
        <p:spPr>
          <a:xfrm>
            <a:off x="801410" y="2614732"/>
            <a:ext cx="13027581" cy="1376124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1028462" y="2758440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Todoist</a:t>
            </a:r>
            <a:endParaRPr sz="1750" b="0" i="0" u="none" strike="noStrike" cap="none"/>
          </a:p>
        </p:txBody>
      </p:sp>
      <p:sp>
        <p:nvSpPr>
          <p:cNvPr id="136" name="Google Shape;136;p14"/>
          <p:cNvSpPr/>
          <p:nvPr/>
        </p:nvSpPr>
        <p:spPr>
          <a:xfrm>
            <a:off x="4289108" y="2758440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Трекер задач</a:t>
            </a:r>
            <a:endParaRPr sz="1750" b="0" i="0" u="none" strike="noStrike" cap="none"/>
          </a:p>
        </p:txBody>
      </p:sp>
      <p:sp>
        <p:nvSpPr>
          <p:cNvPr id="137" name="Google Shape;137;p14"/>
          <p:cNvSpPr/>
          <p:nvPr/>
        </p:nvSpPr>
        <p:spPr>
          <a:xfrm>
            <a:off x="7545943" y="2758440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Планирование, интеграции</a:t>
            </a:r>
            <a:endParaRPr sz="1750" b="0" i="0" u="none" strike="noStrike" cap="none"/>
          </a:p>
        </p:txBody>
      </p:sp>
      <p:sp>
        <p:nvSpPr>
          <p:cNvPr id="138" name="Google Shape;138;p14"/>
          <p:cNvSpPr/>
          <p:nvPr/>
        </p:nvSpPr>
        <p:spPr>
          <a:xfrm>
            <a:off x="10802779" y="2758440"/>
            <a:ext cx="2799397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Нет геймификации, нет ориентированности на пользователей с СДВГ</a:t>
            </a:r>
            <a:endParaRPr sz="1750" b="0" i="0" u="none" strike="noStrike" cap="none"/>
          </a:p>
        </p:txBody>
      </p:sp>
      <p:sp>
        <p:nvSpPr>
          <p:cNvPr id="139" name="Google Shape;139;p14"/>
          <p:cNvSpPr/>
          <p:nvPr/>
        </p:nvSpPr>
        <p:spPr>
          <a:xfrm>
            <a:off x="801410" y="3990856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1028462" y="4134564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TickTick</a:t>
            </a:r>
            <a:endParaRPr sz="1750" b="0" i="0" u="none" strike="noStrike" cap="none"/>
          </a:p>
        </p:txBody>
      </p:sp>
      <p:sp>
        <p:nvSpPr>
          <p:cNvPr id="141" name="Google Shape;141;p14"/>
          <p:cNvSpPr/>
          <p:nvPr/>
        </p:nvSpPr>
        <p:spPr>
          <a:xfrm>
            <a:off x="4289108" y="4134564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Комбо: задачи + таймер</a:t>
            </a:r>
            <a:endParaRPr sz="1750" b="0" i="0" u="none" strike="noStrike" cap="none"/>
          </a:p>
        </p:txBody>
      </p:sp>
      <p:sp>
        <p:nvSpPr>
          <p:cNvPr id="142" name="Google Shape;142;p14"/>
          <p:cNvSpPr/>
          <p:nvPr/>
        </p:nvSpPr>
        <p:spPr>
          <a:xfrm>
            <a:off x="7545943" y="4134564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Pomodoro, простота</a:t>
            </a:r>
            <a:endParaRPr sz="1750" b="0" i="0" u="none" strike="noStrike" cap="none"/>
          </a:p>
        </p:txBody>
      </p:sp>
      <p:sp>
        <p:nvSpPr>
          <p:cNvPr id="143" name="Google Shape;143;p14"/>
          <p:cNvSpPr/>
          <p:nvPr/>
        </p:nvSpPr>
        <p:spPr>
          <a:xfrm>
            <a:off x="10802779" y="4134564"/>
            <a:ext cx="2799397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Ограниченная</a:t>
            </a:r>
            <a:r>
              <a:rPr lang="en-US" sz="1750" b="0" i="0" u="none" strike="noStrike" cap="none" dirty="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1750" b="0" i="0" u="none" strike="noStrike" cap="none" dirty="0" err="1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персонализация</a:t>
            </a:r>
            <a:endParaRPr sz="1750" b="0" i="0" u="none" strike="noStrike" cap="none" dirty="0"/>
          </a:p>
        </p:txBody>
      </p:sp>
      <p:sp>
        <p:nvSpPr>
          <p:cNvPr id="144" name="Google Shape;144;p14"/>
          <p:cNvSpPr/>
          <p:nvPr/>
        </p:nvSpPr>
        <p:spPr>
          <a:xfrm>
            <a:off x="801410" y="5004078"/>
            <a:ext cx="13027581" cy="650319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1028462" y="514778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Notion</a:t>
            </a:r>
            <a:endParaRPr sz="1750" b="0" i="0" u="none" strike="noStrike" cap="none"/>
          </a:p>
        </p:txBody>
      </p:sp>
      <p:sp>
        <p:nvSpPr>
          <p:cNvPr id="146" name="Google Shape;146;p14"/>
          <p:cNvSpPr/>
          <p:nvPr/>
        </p:nvSpPr>
        <p:spPr>
          <a:xfrm>
            <a:off x="4289108" y="5147786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Блокнот/заметки</a:t>
            </a:r>
            <a:endParaRPr sz="1750" b="0" i="0" u="none" strike="noStrike" cap="none"/>
          </a:p>
        </p:txBody>
      </p:sp>
      <p:sp>
        <p:nvSpPr>
          <p:cNvPr id="147" name="Google Shape;147;p14"/>
          <p:cNvSpPr/>
          <p:nvPr/>
        </p:nvSpPr>
        <p:spPr>
          <a:xfrm>
            <a:off x="7545943" y="5147786"/>
            <a:ext cx="2795588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Гибкость, шаблоны</a:t>
            </a:r>
            <a:endParaRPr sz="1750" b="0" i="0" u="none" strike="noStrike" cap="none"/>
          </a:p>
        </p:txBody>
      </p:sp>
      <p:sp>
        <p:nvSpPr>
          <p:cNvPr id="148" name="Google Shape;148;p14"/>
          <p:cNvSpPr/>
          <p:nvPr/>
        </p:nvSpPr>
        <p:spPr>
          <a:xfrm>
            <a:off x="10802779" y="514778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Сложность для новичков</a:t>
            </a:r>
            <a:endParaRPr sz="1750" b="0" i="0" u="none" strike="noStrike" cap="none"/>
          </a:p>
        </p:txBody>
      </p:sp>
      <p:sp>
        <p:nvSpPr>
          <p:cNvPr id="149" name="Google Shape;149;p14"/>
          <p:cNvSpPr/>
          <p:nvPr/>
        </p:nvSpPr>
        <p:spPr>
          <a:xfrm>
            <a:off x="801410" y="5654397"/>
            <a:ext cx="13027581" cy="101322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50" name="Google Shape;150;p14"/>
          <p:cNvSpPr/>
          <p:nvPr/>
        </p:nvSpPr>
        <p:spPr>
          <a:xfrm>
            <a:off x="1028462" y="5798106"/>
            <a:ext cx="2799397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Duolingo (как референс)</a:t>
            </a:r>
            <a:endParaRPr sz="1750" b="0" i="0" u="none" strike="noStrike" cap="none"/>
          </a:p>
        </p:txBody>
      </p:sp>
      <p:sp>
        <p:nvSpPr>
          <p:cNvPr id="151" name="Google Shape;151;p14"/>
          <p:cNvSpPr/>
          <p:nvPr/>
        </p:nvSpPr>
        <p:spPr>
          <a:xfrm>
            <a:off x="4289108" y="5798106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Геймификация в образовании</a:t>
            </a:r>
            <a:endParaRPr sz="1750" b="0" i="0" u="none" strike="noStrike" cap="none"/>
          </a:p>
        </p:txBody>
      </p:sp>
      <p:sp>
        <p:nvSpPr>
          <p:cNvPr id="152" name="Google Shape;152;p14"/>
          <p:cNvSpPr/>
          <p:nvPr/>
        </p:nvSpPr>
        <p:spPr>
          <a:xfrm>
            <a:off x="7545943" y="5798106"/>
            <a:ext cx="2795588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Мотивация через персонажа</a:t>
            </a:r>
            <a:endParaRPr sz="1750" b="0" i="0" u="none" strike="noStrike" cap="none"/>
          </a:p>
        </p:txBody>
      </p:sp>
      <p:sp>
        <p:nvSpPr>
          <p:cNvPr id="153" name="Google Shape;153;p14"/>
          <p:cNvSpPr/>
          <p:nvPr/>
        </p:nvSpPr>
        <p:spPr>
          <a:xfrm>
            <a:off x="10802779" y="5798106"/>
            <a:ext cx="2799397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Не для управления задачами</a:t>
            </a:r>
            <a:endParaRPr sz="1750" b="0" i="0" u="none" strike="noStrike" cap="none"/>
          </a:p>
        </p:txBody>
      </p:sp>
      <p:sp>
        <p:nvSpPr>
          <p:cNvPr id="154" name="Google Shape;154;p14"/>
          <p:cNvSpPr/>
          <p:nvPr/>
        </p:nvSpPr>
        <p:spPr>
          <a:xfrm>
            <a:off x="793790" y="6930390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Fira Sans"/>
              <a:buNone/>
            </a:pPr>
            <a:r>
              <a:rPr lang="en-US" sz="17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Ключевой пробел на рынке: комбинация геймификации (персонаж/маскот), AI‑ассистента и механизмов для СДВГ.</a:t>
            </a:r>
            <a:endParaRPr sz="1750" b="0" i="0" u="none" strike="noStrike" cap="none"/>
          </a:p>
        </p:txBody>
      </p:sp>
      <p:sp>
        <p:nvSpPr>
          <p:cNvPr id="155" name="Google Shape;155;p14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indent="0" algn="l" rtl="0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2350"/>
              <a:buFont typeface="Anton"/>
              <a:buNone/>
            </a:pPr>
            <a:r>
              <a:rPr sz="4400" b="1" dirty="0" err="1">
                <a:solidFill>
                  <a:srgbClr val="FA95AF"/>
                </a:solidFill>
                <a:latin typeface="Anton"/>
              </a:rPr>
              <a:t>Тренды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и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барьеры</a:t>
            </a:r>
            <a:endParaRPr sz="2350" b="1" i="0" u="none" strike="noStrike" cap="none" dirty="0"/>
          </a:p>
        </p:txBody>
      </p:sp>
      <p:sp>
        <p:nvSpPr>
          <p:cNvPr id="164" name="Google Shape;164;p15"/>
          <p:cNvSpPr/>
          <p:nvPr/>
        </p:nvSpPr>
        <p:spPr>
          <a:xfrm>
            <a:off x="2123837" y="251829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Удалёнка</a:t>
            </a:r>
            <a:endParaRPr sz="1450" b="0" i="0" u="none" strike="noStrike" cap="none" dirty="0"/>
          </a:p>
        </p:txBody>
      </p:sp>
      <p:sp>
        <p:nvSpPr>
          <p:cNvPr id="165" name="Google Shape;165;p15"/>
          <p:cNvSpPr/>
          <p:nvPr/>
        </p:nvSpPr>
        <p:spPr>
          <a:xfrm>
            <a:off x="2123837" y="2853214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Рост дистанционной работы → спрос на self‑management</a:t>
            </a:r>
            <a:endParaRPr sz="1150" b="0" i="0" u="none" strike="noStrike" cap="none"/>
          </a:p>
        </p:txBody>
      </p:sp>
      <p:sp>
        <p:nvSpPr>
          <p:cNvPr id="167" name="Google Shape;167;p15"/>
          <p:cNvSpPr/>
          <p:nvPr/>
        </p:nvSpPr>
        <p:spPr>
          <a:xfrm>
            <a:off x="2123837" y="3753922"/>
            <a:ext cx="310896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Рост self‑management</a:t>
            </a:r>
            <a:endParaRPr sz="1450" b="0" i="0" u="none" strike="noStrike" cap="none"/>
          </a:p>
        </p:txBody>
      </p:sp>
      <p:sp>
        <p:nvSpPr>
          <p:cNvPr id="168" name="Google Shape;168;p15"/>
          <p:cNvSpPr/>
          <p:nvPr/>
        </p:nvSpPr>
        <p:spPr>
          <a:xfrm>
            <a:off x="2123837" y="4088844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Инструменты личной эффективности в росте</a:t>
            </a:r>
            <a:endParaRPr sz="1150" b="0" i="0" u="none" strike="noStrike" cap="none"/>
          </a:p>
        </p:txBody>
      </p:sp>
      <p:sp>
        <p:nvSpPr>
          <p:cNvPr id="170" name="Google Shape;170;p15"/>
          <p:cNvSpPr/>
          <p:nvPr/>
        </p:nvSpPr>
        <p:spPr>
          <a:xfrm>
            <a:off x="2123837" y="4989552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ADHD Awareness</a:t>
            </a:r>
            <a:endParaRPr sz="1450" b="0" i="0" u="none" strike="noStrike" cap="none"/>
          </a:p>
        </p:txBody>
      </p:sp>
      <p:sp>
        <p:nvSpPr>
          <p:cNvPr id="171" name="Google Shape;171;p15"/>
          <p:cNvSpPr/>
          <p:nvPr/>
        </p:nvSpPr>
        <p:spPr>
          <a:xfrm>
            <a:off x="2123837" y="5324475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Больше запросов на специализированные фичи</a:t>
            </a:r>
            <a:endParaRPr sz="1150" b="0" i="0" u="none" strike="noStrike" cap="none"/>
          </a:p>
        </p:txBody>
      </p:sp>
      <p:sp>
        <p:nvSpPr>
          <p:cNvPr id="173" name="Google Shape;173;p15"/>
          <p:cNvSpPr/>
          <p:nvPr/>
        </p:nvSpPr>
        <p:spPr>
          <a:xfrm>
            <a:off x="2123837" y="6225183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Геймификация</a:t>
            </a:r>
            <a:endParaRPr sz="1450" b="0" i="0" u="none" strike="noStrike" cap="none"/>
          </a:p>
        </p:txBody>
      </p:sp>
      <p:sp>
        <p:nvSpPr>
          <p:cNvPr id="174" name="Google Shape;174;p15"/>
          <p:cNvSpPr/>
          <p:nvPr/>
        </p:nvSpPr>
        <p:spPr>
          <a:xfrm>
            <a:off x="2123837" y="6560106"/>
            <a:ext cx="5007888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Успешные кейсы поддерживают вовлечённость</a:t>
            </a:r>
            <a:endParaRPr sz="1150" b="0" i="0" u="none" strike="noStrike" cap="none"/>
          </a:p>
        </p:txBody>
      </p:sp>
      <p:sp>
        <p:nvSpPr>
          <p:cNvPr id="175" name="Google Shape;175;p15"/>
          <p:cNvSpPr/>
          <p:nvPr/>
        </p:nvSpPr>
        <p:spPr>
          <a:xfrm>
            <a:off x="7506295" y="1623954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450"/>
              <a:buFont typeface="Anton"/>
              <a:buNone/>
            </a:pPr>
            <a:r>
              <a:rPr lang="en-US" sz="20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Барьеры</a:t>
            </a:r>
            <a:endParaRPr sz="2000" b="1" i="0" u="none" strike="noStrike" cap="none" dirty="0"/>
          </a:p>
        </p:txBody>
      </p:sp>
      <p:sp>
        <p:nvSpPr>
          <p:cNvPr id="176" name="Google Shape;176;p15"/>
          <p:cNvSpPr/>
          <p:nvPr/>
        </p:nvSpPr>
        <p:spPr>
          <a:xfrm>
            <a:off x="7498677" y="2004417"/>
            <a:ext cx="2453997" cy="1066681"/>
          </a:xfrm>
          <a:prstGeom prst="roundRect">
            <a:avLst>
              <a:gd name="adj" fmla="val 2116"/>
            </a:avLst>
          </a:prstGeom>
          <a:solidFill>
            <a:srgbClr val="1F1F1F"/>
          </a:solidFill>
          <a:ln w="15225" cap="flat" cmpd="sng">
            <a:solidFill>
              <a:srgbClr val="575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7671911" y="218301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Конкуренция</a:t>
            </a:r>
            <a:endParaRPr sz="1450" b="0" i="0" u="none" strike="noStrike" cap="none"/>
          </a:p>
        </p:txBody>
      </p:sp>
      <p:sp>
        <p:nvSpPr>
          <p:cNvPr id="178" name="Google Shape;178;p15"/>
          <p:cNvSpPr/>
          <p:nvPr/>
        </p:nvSpPr>
        <p:spPr>
          <a:xfrm>
            <a:off x="7671911" y="2517934"/>
            <a:ext cx="2122765" cy="40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Множество устоявшихся продуктов</a:t>
            </a:r>
            <a:endParaRPr sz="1150" b="0" i="0" u="none" strike="noStrike" cap="none"/>
          </a:p>
        </p:txBody>
      </p:sp>
      <p:sp>
        <p:nvSpPr>
          <p:cNvPr id="179" name="Google Shape;179;p15"/>
          <p:cNvSpPr/>
          <p:nvPr/>
        </p:nvSpPr>
        <p:spPr>
          <a:xfrm>
            <a:off x="10060067" y="2017395"/>
            <a:ext cx="2454116" cy="1066681"/>
          </a:xfrm>
          <a:prstGeom prst="roundRect">
            <a:avLst>
              <a:gd name="adj" fmla="val 2116"/>
            </a:avLst>
          </a:prstGeom>
          <a:solidFill>
            <a:srgbClr val="1F1F1F"/>
          </a:solidFill>
          <a:ln w="15225" cap="flat" cmpd="sng">
            <a:solidFill>
              <a:srgbClr val="575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10225683" y="2183011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Привычки</a:t>
            </a:r>
            <a:endParaRPr sz="1450" b="0" i="0" u="none" strike="noStrike" cap="none"/>
          </a:p>
        </p:txBody>
      </p:sp>
      <p:sp>
        <p:nvSpPr>
          <p:cNvPr id="181" name="Google Shape;181;p15"/>
          <p:cNvSpPr/>
          <p:nvPr/>
        </p:nvSpPr>
        <p:spPr>
          <a:xfrm>
            <a:off x="10225683" y="2517934"/>
            <a:ext cx="2122884" cy="40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Сложно сменить устоявшийся рабочий процесс</a:t>
            </a:r>
            <a:endParaRPr sz="1150" b="0" i="0" u="none" strike="noStrike" cap="none"/>
          </a:p>
        </p:txBody>
      </p:sp>
      <p:sp>
        <p:nvSpPr>
          <p:cNvPr id="182" name="Google Shape;182;p15"/>
          <p:cNvSpPr/>
          <p:nvPr/>
        </p:nvSpPr>
        <p:spPr>
          <a:xfrm>
            <a:off x="7506295" y="3183850"/>
            <a:ext cx="5007888" cy="866418"/>
          </a:xfrm>
          <a:prstGeom prst="roundRect">
            <a:avLst>
              <a:gd name="adj" fmla="val 2605"/>
            </a:avLst>
          </a:prstGeom>
          <a:solidFill>
            <a:srgbClr val="1F1F1F"/>
          </a:solidFill>
          <a:ln w="15225" cap="flat" cmpd="sng">
            <a:solidFill>
              <a:srgbClr val="575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7671911" y="3349466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Anton"/>
              <a:buNone/>
            </a:pPr>
            <a:r>
              <a:rPr lang="en-US" sz="1450" b="0" i="0" u="none" strike="noStrike" cap="none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Доверие к </a:t>
            </a:r>
            <a:r>
              <a:rPr lang="en-US" sz="1450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ИИ</a:t>
            </a:r>
            <a:endParaRPr sz="1450" b="0" i="0" u="none" strike="noStrike" cap="none"/>
          </a:p>
        </p:txBody>
      </p:sp>
      <p:sp>
        <p:nvSpPr>
          <p:cNvPr id="184" name="Google Shape;184;p15"/>
          <p:cNvSpPr/>
          <p:nvPr/>
        </p:nvSpPr>
        <p:spPr>
          <a:xfrm>
            <a:off x="7671911" y="3684389"/>
            <a:ext cx="4676656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Пользователи осторожны с автоматическими советами</a:t>
            </a:r>
            <a:endParaRPr sz="1150" b="0" i="0" u="none" strike="noStrike" cap="none"/>
          </a:p>
        </p:txBody>
      </p:sp>
      <p:sp>
        <p:nvSpPr>
          <p:cNvPr id="185" name="Google Shape;185;p15"/>
          <p:cNvSpPr/>
          <p:nvPr/>
        </p:nvSpPr>
        <p:spPr>
          <a:xfrm>
            <a:off x="2123837" y="6984921"/>
            <a:ext cx="10382726" cy="20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Fira Sans"/>
              <a:buNone/>
            </a:pPr>
            <a:r>
              <a:rPr lang="en-US" sz="1150" b="0" i="0" u="none" strike="noStrike" cap="none">
                <a:solidFill>
                  <a:srgbClr val="E0D6DE"/>
                </a:solidFill>
                <a:latin typeface="Fira Sans"/>
                <a:ea typeface="Fira Sans"/>
                <a:cs typeface="Fira Sans"/>
                <a:sym typeface="Fira Sans"/>
              </a:rPr>
              <a:t>Наша задача — минимизировать барьеры через простой UX, прозрачный ИИ и вирусный контент.</a:t>
            </a:r>
            <a:endParaRPr sz="1150" b="0" i="0" u="none" strike="noStrike" cap="none"/>
          </a:p>
        </p:txBody>
      </p:sp>
      <p:sp>
        <p:nvSpPr>
          <p:cNvPr id="186" name="Google Shape;186;p15"/>
          <p:cNvSpPr/>
          <p:nvPr/>
        </p:nvSpPr>
        <p:spPr>
          <a:xfrm>
            <a:off x="12831600" y="7715100"/>
            <a:ext cx="1798800" cy="514500"/>
          </a:xfrm>
          <a:prstGeom prst="rect">
            <a:avLst/>
          </a:prstGeom>
          <a:solidFill>
            <a:srgbClr val="1F1F1F"/>
          </a:solidFill>
          <a:ln w="9525" cap="flat" cmpd="sng">
            <a:solidFill>
              <a:srgbClr val="1F1F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E0D6DE"/>
                </a:solidFill>
                <a:latin typeface="Fira Sans"/>
              </a:defRPr>
            </a:pPr>
            <a:endParaRPr/>
          </a:p>
        </p:txBody>
      </p:sp>
      <p:sp>
        <p:nvSpPr>
          <p:cNvPr id="187" name="Rounded Rectangle 186"/>
          <p:cNvSpPr/>
          <p:nvPr/>
        </p:nvSpPr>
        <p:spPr>
          <a:xfrm>
            <a:off x="1194062" y="3408947"/>
            <a:ext cx="751146" cy="751146"/>
          </a:xfrm>
          <a:prstGeom prst="roundRect">
            <a:avLst/>
          </a:prstGeom>
          <a:solidFill>
            <a:srgbClr val="28282B"/>
          </a:solidFill>
          <a:ln w="12700">
            <a:solidFill>
              <a:srgbClr val="4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9E8C37-40ED-7F2D-BB6F-0519B25DFF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7253" y="3474267"/>
            <a:ext cx="623130" cy="623130"/>
          </a:xfrm>
          <a:prstGeom prst="rect">
            <a:avLst/>
          </a:prstGeom>
        </p:spPr>
      </p:pic>
      <p:sp>
        <p:nvSpPr>
          <p:cNvPr id="188" name="Rounded Rectangle 187"/>
          <p:cNvSpPr/>
          <p:nvPr/>
        </p:nvSpPr>
        <p:spPr>
          <a:xfrm>
            <a:off x="1133429" y="2346700"/>
            <a:ext cx="723366" cy="723366"/>
          </a:xfrm>
          <a:prstGeom prst="roundRect">
            <a:avLst/>
          </a:prstGeom>
          <a:solidFill>
            <a:srgbClr val="28282B"/>
          </a:solidFill>
          <a:ln w="12700">
            <a:solidFill>
              <a:srgbClr val="4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BC679-0733-0121-2C9C-3531374E60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7437" y="2360368"/>
            <a:ext cx="595350" cy="595350"/>
          </a:xfrm>
          <a:prstGeom prst="rect">
            <a:avLst/>
          </a:prstGeom>
        </p:spPr>
      </p:pic>
      <p:sp>
        <p:nvSpPr>
          <p:cNvPr id="189" name="Rounded Rectangle 188"/>
          <p:cNvSpPr/>
          <p:nvPr/>
        </p:nvSpPr>
        <p:spPr>
          <a:xfrm>
            <a:off x="1188085" y="4787373"/>
            <a:ext cx="757123" cy="757123"/>
          </a:xfrm>
          <a:prstGeom prst="roundRect">
            <a:avLst/>
          </a:prstGeom>
          <a:solidFill>
            <a:srgbClr val="28282B"/>
          </a:solidFill>
          <a:ln w="12700">
            <a:solidFill>
              <a:srgbClr val="4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D77131-D8A8-4062-A133-06B6FA683A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52093" y="4851381"/>
            <a:ext cx="629107" cy="629107"/>
          </a:xfrm>
          <a:prstGeom prst="rect">
            <a:avLst/>
          </a:prstGeom>
        </p:spPr>
      </p:pic>
      <p:sp>
        <p:nvSpPr>
          <p:cNvPr id="190" name="Rounded Rectangle 189"/>
          <p:cNvSpPr/>
          <p:nvPr/>
        </p:nvSpPr>
        <p:spPr>
          <a:xfrm>
            <a:off x="1158829" y="6070600"/>
            <a:ext cx="857296" cy="820018"/>
          </a:xfrm>
          <a:prstGeom prst="roundRect">
            <a:avLst/>
          </a:prstGeom>
          <a:solidFill>
            <a:srgbClr val="28282B"/>
          </a:solidFill>
          <a:ln w="12700">
            <a:solidFill>
              <a:srgbClr val="46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61A3FA8-82A3-C45E-DF0F-03B1C0EFF0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597" y="6101273"/>
            <a:ext cx="737752" cy="737752"/>
          </a:xfrm>
          <a:prstGeom prst="rect">
            <a:avLst/>
          </a:prstGeom>
        </p:spPr>
      </p:pic>
      <p:sp>
        <p:nvSpPr>
          <p:cNvPr id="162" name="Google Shape;162;p15"/>
          <p:cNvSpPr/>
          <p:nvPr/>
        </p:nvSpPr>
        <p:spPr>
          <a:xfrm>
            <a:off x="2016125" y="1639093"/>
            <a:ext cx="1880830" cy="235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FA95AF"/>
              </a:buClr>
              <a:buSzPts val="1450"/>
              <a:buFont typeface="Anton"/>
              <a:buNone/>
            </a:pPr>
            <a:r>
              <a:rPr lang="en-US" sz="2000" b="1" i="0" u="none" strike="noStrike" cap="none" dirty="0" err="1">
                <a:solidFill>
                  <a:srgbClr val="E0D6DE"/>
                </a:solidFill>
                <a:latin typeface="Fira Sans"/>
                <a:ea typeface="Anton"/>
                <a:cs typeface="Anton"/>
                <a:sym typeface="Anton"/>
              </a:rPr>
              <a:t>Драйверы</a:t>
            </a:r>
            <a:endParaRPr sz="2000" b="1" i="0" u="none" strike="noStrike" cap="non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" y="1828800"/>
            <a:ext cx="14630034" cy="1207008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85800" y="502920"/>
            <a:ext cx="13258800" cy="78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SzPts val="3400"/>
            </a:pPr>
            <a:r>
              <a:rPr sz="4400" b="1" dirty="0" err="1">
                <a:solidFill>
                  <a:srgbClr val="FA95AF"/>
                </a:solidFill>
                <a:latin typeface="Anton"/>
              </a:rPr>
              <a:t>Рынок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: TAM / SAM / SOM</a:t>
            </a:r>
            <a:endParaRPr sz="1680" b="1"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768096" y="2684679"/>
            <a:ext cx="13093920" cy="36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pPr>
              <a:buSzPts val="1600"/>
              <a:defRPr>
                <a:solidFill>
                  <a:srgbClr val="E0D6DE"/>
                </a:solidFill>
                <a:latin typeface="Fira Sans"/>
              </a:defRPr>
            </a:pPr>
            <a:endParaRPr sz="1680"/>
          </a:p>
        </p:txBody>
      </p:sp>
      <p:sp>
        <p:nvSpPr>
          <p:cNvPr id="123" name="Google Shape;123;p15"/>
          <p:cNvSpPr/>
          <p:nvPr/>
        </p:nvSpPr>
        <p:spPr>
          <a:xfrm>
            <a:off x="768090" y="6228030"/>
            <a:ext cx="13167360" cy="156276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767970" y="3035820"/>
            <a:ext cx="13167360" cy="472608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buSzPts val="1800"/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777240" y="1508760"/>
            <a:ext cx="1307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A0969E"/>
                </a:solidFill>
                <a:latin typeface="Fira Sans"/>
              </a:rPr>
              <a:t>Метод расчёта: комбинированный • TAM — top‑down • SAM/SOM — сегментация + ARPU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0696FC-4339-B110-C1BD-CF05E1144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003" y="3035808"/>
            <a:ext cx="8443375" cy="47674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1" y="1828800"/>
            <a:ext cx="14630034" cy="1207008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85800" y="502920"/>
            <a:ext cx="13258800" cy="78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sz="4400" b="1" dirty="0" err="1">
                <a:solidFill>
                  <a:srgbClr val="FA95AF"/>
                </a:solidFill>
                <a:latin typeface="Anton"/>
              </a:rPr>
              <a:t>Инсайты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о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сегменте</a:t>
            </a:r>
            <a:endParaRPr sz="1680" b="1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768097" y="2684678"/>
            <a:ext cx="13093842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192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 важное поняли и что влияет на продукт/коммуникацию</a:t>
            </a:r>
            <a:endParaRPr sz="1680"/>
          </a:p>
        </p:txBody>
      </p:sp>
      <p:sp>
        <p:nvSpPr>
          <p:cNvPr id="171" name="Google Shape;171;p19"/>
          <p:cNvSpPr/>
          <p:nvPr/>
        </p:nvSpPr>
        <p:spPr>
          <a:xfrm>
            <a:off x="768096" y="2084832"/>
            <a:ext cx="13167360" cy="6144768"/>
          </a:xfrm>
          <a:prstGeom prst="roundRect">
            <a:avLst>
              <a:gd name="adj" fmla="val 16667"/>
            </a:avLst>
          </a:prstGeom>
          <a:solidFill>
            <a:srgbClr val="1F1F2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152144" y="1920240"/>
            <a:ext cx="12399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400" b="1">
                <a:solidFill>
                  <a:srgbClr val="FA95AF"/>
                </a:solidFill>
                <a:latin typeface="Fira Sans"/>
                <a:ea typeface="Calibri"/>
                <a:cs typeface="Calibri"/>
                <a:sym typeface="Calibri"/>
              </a:rPr>
              <a:t>Инсайты</a:t>
            </a:r>
            <a:endParaRPr sz="2760"/>
          </a:p>
        </p:txBody>
      </p:sp>
      <p:sp>
        <p:nvSpPr>
          <p:cNvPr id="173" name="Google Shape;173;p19"/>
          <p:cNvSpPr txBox="1"/>
          <p:nvPr/>
        </p:nvSpPr>
        <p:spPr>
          <a:xfrm>
            <a:off x="1097310" y="2875853"/>
            <a:ext cx="12508920" cy="3767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«</a:t>
            </a:r>
            <a:r>
              <a:rPr lang="en-US" sz="21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Боль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в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отсутствии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списка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а в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переходе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хаоса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к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плану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разбиение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оценка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времени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выбор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следующего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шага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Люди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готовы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к AI‑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подсказкам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хотят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контроля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«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покажи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почему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 +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возможность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быстро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править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Главный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риск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—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начать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вернуться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удержание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важнее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«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красивых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функций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ритуалы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напоминания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ежедневный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план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Интеграции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критичны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MVP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достаточно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1–2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календарь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+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импорт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экспорт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Приватность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доверие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—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фактор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выбора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даже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для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студентов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важно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объяснить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хранение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данных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режимы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локально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облако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Сегмент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чувствителен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к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нужен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freemium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понятная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ценность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платной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версии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экономия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времени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).</a:t>
            </a:r>
            <a:endParaRPr sz="2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-135330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85800" y="502920"/>
            <a:ext cx="13258800" cy="787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sz="4400" b="1" dirty="0" err="1">
                <a:solidFill>
                  <a:srgbClr val="FA95AF"/>
                </a:solidFill>
                <a:latin typeface="Anton"/>
              </a:rPr>
              <a:t>Границы</a:t>
            </a:r>
            <a:r>
              <a:rPr sz="4400" b="1" dirty="0">
                <a:solidFill>
                  <a:srgbClr val="FA95AF"/>
                </a:solidFill>
                <a:latin typeface="Anton"/>
              </a:rPr>
              <a:t> </a:t>
            </a:r>
            <a:r>
              <a:rPr sz="4400" b="1" dirty="0" err="1">
                <a:solidFill>
                  <a:srgbClr val="FA95AF"/>
                </a:solidFill>
                <a:latin typeface="Anton"/>
              </a:rPr>
              <a:t>сегмента</a:t>
            </a:r>
            <a:endParaRPr sz="1680" b="1" dirty="0"/>
          </a:p>
        </p:txBody>
      </p:sp>
      <p:sp>
        <p:nvSpPr>
          <p:cNvPr id="102" name="Google Shape;102;p14"/>
          <p:cNvSpPr/>
          <p:nvPr/>
        </p:nvSpPr>
        <p:spPr>
          <a:xfrm>
            <a:off x="596007" y="4780482"/>
            <a:ext cx="13167360" cy="301752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97326" y="5036819"/>
            <a:ext cx="12399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7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Контекст</a:t>
            </a:r>
            <a:r>
              <a:rPr lang="en-US" sz="2760" b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7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потребления</a:t>
            </a:r>
            <a:endParaRPr sz="2520" dirty="0"/>
          </a:p>
        </p:txBody>
      </p:sp>
      <p:sp>
        <p:nvSpPr>
          <p:cNvPr id="2" name="Google Shape;102;p14">
            <a:extLst>
              <a:ext uri="{FF2B5EF4-FFF2-40B4-BE49-F238E27FC236}">
                <a16:creationId xmlns:a16="http://schemas.microsoft.com/office/drawing/2014/main" id="{23D1EC74-F32D-8974-02D0-9C0B2922D299}"/>
              </a:ext>
            </a:extLst>
          </p:cNvPr>
          <p:cNvSpPr/>
          <p:nvPr/>
        </p:nvSpPr>
        <p:spPr>
          <a:xfrm>
            <a:off x="596007" y="1561558"/>
            <a:ext cx="13167360" cy="3017520"/>
          </a:xfrm>
          <a:prstGeom prst="roundRect">
            <a:avLst>
              <a:gd name="adj" fmla="val 16667"/>
            </a:avLst>
          </a:prstGeom>
          <a:solidFill>
            <a:srgbClr val="28282B"/>
          </a:solidFill>
          <a:ln w="12700" cap="flat" cmpd="sng">
            <a:solidFill>
              <a:srgbClr val="46464B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097326" y="5673004"/>
            <a:ext cx="12508920" cy="1107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160" b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Где возникает: </a:t>
            </a:r>
            <a:r>
              <a:rPr lang="en-US" sz="216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учёба/работа, дедлайны, проекты/курсы, пет‑проекты, фриланс</a:t>
            </a:r>
            <a:endParaRPr sz="2160"/>
          </a:p>
          <a:p>
            <a:r>
              <a:rPr lang="en-US" sz="2160" b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Ключевой сценарий: </a:t>
            </a:r>
            <a:r>
              <a:rPr lang="en-US" sz="216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нужно быстро разложить задачу на шаги, оценить сроки и не потерять контекст</a:t>
            </a:r>
            <a:endParaRPr sz="2160"/>
          </a:p>
          <a:p>
            <a:r>
              <a:rPr lang="en-US" sz="2160" b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Единица спроса: </a:t>
            </a:r>
            <a:r>
              <a:rPr lang="en-US" sz="216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«спринт» из задач на 1–7 дней + напоминания/фокус‑режим</a:t>
            </a:r>
            <a:endParaRPr sz="2160"/>
          </a:p>
        </p:txBody>
      </p:sp>
      <p:sp>
        <p:nvSpPr>
          <p:cNvPr id="101" name="Google Shape;101;p14"/>
          <p:cNvSpPr txBox="1"/>
          <p:nvPr/>
        </p:nvSpPr>
        <p:spPr>
          <a:xfrm>
            <a:off x="863375" y="2300876"/>
            <a:ext cx="12508920" cy="14403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рассматриваем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сегмент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молодые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специалисты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студенты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которые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учатся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работают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ведут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много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параллельных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Сегмент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выбран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старте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потому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: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проблема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«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планирование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фокус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возникает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ежедневно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;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аудитория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доступна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для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интервью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быстро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пробует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новые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инструменты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768132" y="1675359"/>
            <a:ext cx="12399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7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Формулировка</a:t>
            </a:r>
            <a:r>
              <a:rPr lang="en-US" sz="2760" b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760" b="1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сегмента</a:t>
            </a:r>
            <a:r>
              <a:rPr lang="en-US" sz="2760" b="1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endParaRPr sz="2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1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1" y="0"/>
            <a:ext cx="14630034" cy="8229600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" y="1828800"/>
            <a:ext cx="14630034" cy="1207008"/>
          </a:xfrm>
          <a:prstGeom prst="rect">
            <a:avLst/>
          </a:prstGeom>
          <a:solidFill>
            <a:srgbClr val="1F1F2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85800" y="502920"/>
            <a:ext cx="13258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sz="4400" b="0">
                <a:solidFill>
                  <a:srgbClr val="FA95AF"/>
                </a:solidFill>
                <a:latin typeface="Anton"/>
              </a:rPr>
              <a:t>JTBD (Jobs To Be Done)</a:t>
            </a:r>
            <a:endParaRPr sz="1680"/>
          </a:p>
        </p:txBody>
      </p:sp>
      <p:sp>
        <p:nvSpPr>
          <p:cNvPr id="158" name="Google Shape;158;p18"/>
          <p:cNvSpPr txBox="1"/>
          <p:nvPr/>
        </p:nvSpPr>
        <p:spPr>
          <a:xfrm>
            <a:off x="768097" y="2684678"/>
            <a:ext cx="13093842" cy="40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192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Формулировки потребностей через задачи и контекст</a:t>
            </a:r>
            <a:endParaRPr sz="1680"/>
          </a:p>
        </p:txBody>
      </p:sp>
      <p:sp>
        <p:nvSpPr>
          <p:cNvPr id="159" name="Google Shape;159;p18"/>
          <p:cNvSpPr/>
          <p:nvPr/>
        </p:nvSpPr>
        <p:spPr>
          <a:xfrm>
            <a:off x="768097" y="2153412"/>
            <a:ext cx="13167360" cy="6144768"/>
          </a:xfrm>
          <a:prstGeom prst="roundRect">
            <a:avLst>
              <a:gd name="adj" fmla="val 16667"/>
            </a:avLst>
          </a:prstGeom>
          <a:solidFill>
            <a:srgbClr val="1F1F21"/>
          </a:solidFill>
          <a:ln w="12700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109710" tIns="54840" rIns="109710" bIns="54840" anchor="ctr" anchorCtr="0">
            <a:noAutofit/>
          </a:bodyPr>
          <a:lstStyle/>
          <a:p>
            <a:pPr algn="ctr">
              <a:defRPr>
                <a:solidFill>
                  <a:srgbClr val="E0D6DE"/>
                </a:solidFill>
                <a:latin typeface="Fira Sans"/>
              </a:defRPr>
            </a:pPr>
            <a:endParaRPr sz="216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1152144" y="1920240"/>
            <a:ext cx="12399120" cy="535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760" b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JTBD для персоны</a:t>
            </a:r>
            <a:endParaRPr sz="2760"/>
          </a:p>
        </p:txBody>
      </p:sp>
      <p:sp>
        <p:nvSpPr>
          <p:cNvPr id="161" name="Google Shape;161;p18"/>
          <p:cNvSpPr txBox="1"/>
          <p:nvPr/>
        </p:nvSpPr>
        <p:spPr>
          <a:xfrm>
            <a:off x="1097310" y="2729514"/>
            <a:ext cx="12508920" cy="276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54840" rIns="109710" bIns="54840" anchor="t" anchorCtr="0">
            <a:spAutoFit/>
          </a:bodyPr>
          <a:lstStyle/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Когда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у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меня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появляется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новая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задача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с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дедлайном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я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хочу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быстро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разложить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её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шаги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оценить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сроки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чтобы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понять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делать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сего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дня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несмотря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нехватку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времени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внимания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Когда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у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меня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много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параллельных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дел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учёба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работа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/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личное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), я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хочу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автоматически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расставить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приоритеты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выделить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1–3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главных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фокуса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дня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чтобы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распыляться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несмотря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постоянные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отвлечения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  <a:p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Когда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я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регулярно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«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срываю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план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», я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хочу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видеть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причины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(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блокирует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переоценено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)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получать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корректировки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чтобы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улучшать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свою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дисциплину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,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несмотря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на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усталость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 и </a:t>
            </a:r>
            <a:r>
              <a:rPr lang="en-US" sz="2160" dirty="0" err="1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стресс</a:t>
            </a:r>
            <a:r>
              <a:rPr lang="en-US" sz="2160" dirty="0">
                <a:solidFill>
                  <a:srgbClr val="E0D6DE"/>
                </a:solidFill>
                <a:latin typeface="Fira Sans"/>
                <a:ea typeface="Calibri"/>
                <a:cs typeface="Calibri"/>
                <a:sym typeface="Calibri"/>
              </a:rPr>
              <a:t>.</a:t>
            </a:r>
            <a:endParaRPr sz="2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887</Words>
  <Application>Microsoft Office PowerPoint</Application>
  <PresentationFormat>Произвольный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Fira Sans</vt:lpstr>
      <vt:lpstr>Calibri</vt:lpstr>
      <vt:lpstr>Arial</vt:lpstr>
      <vt:lpstr>Anton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Данила Ковалев</cp:lastModifiedBy>
  <cp:revision>8</cp:revision>
  <dcterms:modified xsi:type="dcterms:W3CDTF">2026-03-18T13:48:29Z</dcterms:modified>
</cp:coreProperties>
</file>