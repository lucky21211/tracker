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6280190" y="194036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Прокрастинация убивает продуктивность</a:t>
            </a:r>
            <a:endParaRPr b="0" i="0" sz="4450" u="none" cap="none" strike="noStrike"/>
          </a:p>
        </p:txBody>
      </p:sp>
      <p:sp>
        <p:nvSpPr>
          <p:cNvPr id="46" name="Google Shape;46;p10"/>
          <p:cNvSpPr/>
          <p:nvPr/>
        </p:nvSpPr>
        <p:spPr>
          <a:xfrm>
            <a:off x="6280190" y="3698081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Кратко:</a:t>
            </a:r>
            <a:endParaRPr b="0" i="0" sz="1750" u="none" cap="none" strike="noStrike"/>
          </a:p>
        </p:txBody>
      </p:sp>
      <p:sp>
        <p:nvSpPr>
          <p:cNvPr id="47" name="Google Shape;47;p10"/>
          <p:cNvSpPr/>
          <p:nvPr/>
        </p:nvSpPr>
        <p:spPr>
          <a:xfrm>
            <a:off x="6280190" y="4316135"/>
            <a:ext cx="7556421" cy="1973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Char char="•"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31% людей не пользуются трекерами — задачи теряются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Char char="•"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Обычные todo‑списки не работают для людей с СДВГ и слабой самодисциплиной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Char char="•"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Идея: RPG‑трекер задач с ИИ‑ассистентом — превращаем продуктивность в игру</a:t>
            </a:r>
            <a:endParaRPr b="0" i="0" sz="1750" u="none" cap="none" strike="noStrike"/>
          </a:p>
        </p:txBody>
      </p:sp>
      <p:sp>
        <p:nvSpPr>
          <p:cNvPr id="48" name="Google Shape;48;p10"/>
          <p:cNvSpPr/>
          <p:nvPr/>
        </p:nvSpPr>
        <p:spPr>
          <a:xfrm>
            <a:off x="12831675" y="7715250"/>
            <a:ext cx="1798800" cy="5145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793790" y="2324457"/>
            <a:ext cx="5387935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550"/>
              <a:buFont typeface="Anton"/>
              <a:buNone/>
            </a:pPr>
            <a:r>
              <a:rPr b="0" i="0" lang="en-US" sz="35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Сценарий пользователя</a:t>
            </a:r>
            <a:endParaRPr b="0" i="0" sz="3550" u="none" cap="none" strike="noStrike"/>
          </a:p>
        </p:txBody>
      </p:sp>
      <p:pic>
        <p:nvPicPr>
          <p:cNvPr descr="preencoded.png" id="55" name="Google Shape;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345061"/>
            <a:ext cx="67056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/>
          <p:nvPr/>
        </p:nvSpPr>
        <p:spPr>
          <a:xfrm>
            <a:off x="1747838" y="3345061"/>
            <a:ext cx="209395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Пользователь</a:t>
            </a:r>
            <a:endParaRPr b="0" i="0" sz="2200" u="none" cap="none" strike="noStrike"/>
          </a:p>
        </p:txBody>
      </p:sp>
      <p:sp>
        <p:nvSpPr>
          <p:cNvPr id="57" name="Google Shape;57;p11"/>
          <p:cNvSpPr/>
          <p:nvPr/>
        </p:nvSpPr>
        <p:spPr>
          <a:xfrm>
            <a:off x="1747838" y="3835479"/>
            <a:ext cx="209395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Фрилансер / студент</a:t>
            </a:r>
            <a:endParaRPr b="0" i="0" sz="1750" u="none" cap="none" strike="noStrike"/>
          </a:p>
        </p:txBody>
      </p:sp>
      <p:pic>
        <p:nvPicPr>
          <p:cNvPr descr="preencoded.png" id="58" name="Google Shape;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278" y="3345061"/>
            <a:ext cx="67056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/>
          <p:nvPr/>
        </p:nvSpPr>
        <p:spPr>
          <a:xfrm>
            <a:off x="5079325" y="3345061"/>
            <a:ext cx="209407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Ситуация</a:t>
            </a:r>
            <a:endParaRPr b="0" i="0" sz="2200" u="none" cap="none" strike="noStrike"/>
          </a:p>
        </p:txBody>
      </p:sp>
      <p:sp>
        <p:nvSpPr>
          <p:cNvPr id="60" name="Google Shape;60;p11"/>
          <p:cNvSpPr/>
          <p:nvPr/>
        </p:nvSpPr>
        <p:spPr>
          <a:xfrm>
            <a:off x="5079325" y="3835479"/>
            <a:ext cx="209407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Планирует день, много задач, отвлекающие факторы</a:t>
            </a:r>
            <a:endParaRPr b="0" i="0" sz="1750" u="none" cap="none" strike="noStrike"/>
          </a:p>
        </p:txBody>
      </p:sp>
      <p:pic>
        <p:nvPicPr>
          <p:cNvPr descr="preencoded.png" id="61" name="Google Shape;6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6884" y="3345061"/>
            <a:ext cx="67056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/>
          <p:nvPr/>
        </p:nvSpPr>
        <p:spPr>
          <a:xfrm>
            <a:off x="8410932" y="3345061"/>
            <a:ext cx="209407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Проблема</a:t>
            </a:r>
            <a:endParaRPr b="0" i="0" sz="2200" u="none" cap="none" strike="noStrike"/>
          </a:p>
        </p:txBody>
      </p:sp>
      <p:sp>
        <p:nvSpPr>
          <p:cNvPr id="63" name="Google Shape;63;p11"/>
          <p:cNvSpPr/>
          <p:nvPr/>
        </p:nvSpPr>
        <p:spPr>
          <a:xfrm>
            <a:off x="8410932" y="3835479"/>
            <a:ext cx="209407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Не сохраняет фокус, бросает задачи на середине</a:t>
            </a:r>
            <a:endParaRPr b="0" i="0" sz="1750" u="none" cap="none" strike="noStrike"/>
          </a:p>
        </p:txBody>
      </p:sp>
      <p:pic>
        <p:nvPicPr>
          <p:cNvPr descr="preencoded.png" id="64" name="Google Shape;6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8491" y="3345061"/>
            <a:ext cx="67056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"/>
          <p:cNvSpPr/>
          <p:nvPr/>
        </p:nvSpPr>
        <p:spPr>
          <a:xfrm>
            <a:off x="11742539" y="3345061"/>
            <a:ext cx="209407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Последствие</a:t>
            </a:r>
            <a:endParaRPr b="0" i="0" sz="2200" u="none" cap="none" strike="noStrike"/>
          </a:p>
        </p:txBody>
      </p:sp>
      <p:sp>
        <p:nvSpPr>
          <p:cNvPr id="66" name="Google Shape;66;p11"/>
          <p:cNvSpPr/>
          <p:nvPr/>
        </p:nvSpPr>
        <p:spPr>
          <a:xfrm>
            <a:off x="11742539" y="3835479"/>
            <a:ext cx="209407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Срывы дедлайнов → потеря дохода и мотивации</a:t>
            </a:r>
            <a:endParaRPr b="0" i="0" sz="1750" u="none" cap="none" strike="noStrike"/>
          </a:p>
        </p:txBody>
      </p:sp>
      <p:sp>
        <p:nvSpPr>
          <p:cNvPr id="67" name="Google Shape;67;p11"/>
          <p:cNvSpPr/>
          <p:nvPr/>
        </p:nvSpPr>
        <p:spPr>
          <a:xfrm>
            <a:off x="793790" y="554224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Решение: игровой помощник, который превращает маленькие шаги в прогресс и поддерживает фокус ИИ‑подсказками.</a:t>
            </a:r>
            <a:endParaRPr b="0" i="0" sz="1750" u="none" cap="none" strike="noStrike"/>
          </a:p>
        </p:txBody>
      </p:sp>
      <p:sp>
        <p:nvSpPr>
          <p:cNvPr id="68" name="Google Shape;68;p11"/>
          <p:cNvSpPr/>
          <p:nvPr/>
        </p:nvSpPr>
        <p:spPr>
          <a:xfrm>
            <a:off x="12831675" y="7715250"/>
            <a:ext cx="1798800" cy="5145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/>
          <p:nvPr/>
        </p:nvSpPr>
        <p:spPr>
          <a:xfrm>
            <a:off x="793790" y="1336834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550"/>
              <a:buFont typeface="Anton"/>
              <a:buNone/>
            </a:pPr>
            <a:r>
              <a:rPr b="0" i="0" lang="en-US" sz="35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Сегментация рынка</a:t>
            </a:r>
            <a:endParaRPr b="0" i="0" sz="3550" u="none" cap="none" strike="noStrike"/>
          </a:p>
        </p:txBody>
      </p:sp>
      <p:sp>
        <p:nvSpPr>
          <p:cNvPr id="75" name="Google Shape;75;p12"/>
          <p:cNvSpPr/>
          <p:nvPr/>
        </p:nvSpPr>
        <p:spPr>
          <a:xfrm>
            <a:off x="793790" y="2357438"/>
            <a:ext cx="13042821" cy="3917156"/>
          </a:xfrm>
          <a:prstGeom prst="roundRect">
            <a:avLst>
              <a:gd fmla="val 869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2"/>
          <p:cNvSpPr/>
          <p:nvPr/>
        </p:nvSpPr>
        <p:spPr>
          <a:xfrm>
            <a:off x="801410" y="2365058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1028343" y="2508766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Сегменты</a:t>
            </a:r>
            <a:endParaRPr b="0" i="0" sz="1750" u="none" cap="none" strike="noStrike"/>
          </a:p>
        </p:txBody>
      </p:sp>
      <p:sp>
        <p:nvSpPr>
          <p:cNvPr id="78" name="Google Shape;78;p12"/>
          <p:cNvSpPr/>
          <p:nvPr/>
        </p:nvSpPr>
        <p:spPr>
          <a:xfrm>
            <a:off x="4940379" y="2508766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Ключевые характеристики / потребности</a:t>
            </a:r>
            <a:endParaRPr b="0" i="0" sz="1750" u="none" cap="none" strike="noStrike"/>
          </a:p>
        </p:txBody>
      </p:sp>
      <p:sp>
        <p:nvSpPr>
          <p:cNvPr id="79" name="Google Shape;79;p12"/>
          <p:cNvSpPr/>
          <p:nvPr/>
        </p:nvSpPr>
        <p:spPr>
          <a:xfrm>
            <a:off x="801410" y="3015377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"/>
          <p:cNvSpPr/>
          <p:nvPr/>
        </p:nvSpPr>
        <p:spPr>
          <a:xfrm>
            <a:off x="1028343" y="3159085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Студенты</a:t>
            </a:r>
            <a:endParaRPr b="0" i="0" sz="1750" u="none" cap="none" strike="noStrike"/>
          </a:p>
        </p:txBody>
      </p:sp>
      <p:sp>
        <p:nvSpPr>
          <p:cNvPr id="81" name="Google Shape;81;p12"/>
          <p:cNvSpPr/>
          <p:nvPr/>
        </p:nvSpPr>
        <p:spPr>
          <a:xfrm>
            <a:off x="4940379" y="3159085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Короткие сессии, мотивация, социальный элемент</a:t>
            </a:r>
            <a:endParaRPr b="0" i="0" sz="1750" u="none" cap="none" strike="noStrike"/>
          </a:p>
        </p:txBody>
      </p:sp>
      <p:sp>
        <p:nvSpPr>
          <p:cNvPr id="82" name="Google Shape;82;p12"/>
          <p:cNvSpPr/>
          <p:nvPr/>
        </p:nvSpPr>
        <p:spPr>
          <a:xfrm>
            <a:off x="801410" y="3665696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2"/>
          <p:cNvSpPr/>
          <p:nvPr/>
        </p:nvSpPr>
        <p:spPr>
          <a:xfrm>
            <a:off x="1028343" y="3809405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Фрилансеры</a:t>
            </a:r>
            <a:endParaRPr b="0" i="0" sz="1750" u="none" cap="none" strike="noStrike"/>
          </a:p>
        </p:txBody>
      </p:sp>
      <p:sp>
        <p:nvSpPr>
          <p:cNvPr id="84" name="Google Shape;84;p12"/>
          <p:cNvSpPr/>
          <p:nvPr/>
        </p:nvSpPr>
        <p:spPr>
          <a:xfrm>
            <a:off x="4940379" y="3809405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Управление дедлайнами, монетизация времени</a:t>
            </a:r>
            <a:endParaRPr b="0" i="0" sz="1750" u="none" cap="none" strike="noStrike"/>
          </a:p>
        </p:txBody>
      </p:sp>
      <p:sp>
        <p:nvSpPr>
          <p:cNvPr id="85" name="Google Shape;85;p12"/>
          <p:cNvSpPr/>
          <p:nvPr/>
        </p:nvSpPr>
        <p:spPr>
          <a:xfrm>
            <a:off x="801410" y="4316016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1028343" y="4459724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Удалённые специалисты</a:t>
            </a:r>
            <a:endParaRPr b="0" i="0" sz="1750" u="none" cap="none" strike="noStrike"/>
          </a:p>
        </p:txBody>
      </p:sp>
      <p:sp>
        <p:nvSpPr>
          <p:cNvPr id="87" name="Google Shape;87;p12"/>
          <p:cNvSpPr/>
          <p:nvPr/>
        </p:nvSpPr>
        <p:spPr>
          <a:xfrm>
            <a:off x="4940379" y="4459724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Коллаборация, расписание, тайм‑блоки</a:t>
            </a:r>
            <a:endParaRPr b="0" i="0" sz="1750" u="none" cap="none" strike="noStrike"/>
          </a:p>
        </p:txBody>
      </p:sp>
      <p:sp>
        <p:nvSpPr>
          <p:cNvPr id="88" name="Google Shape;88;p12"/>
          <p:cNvSpPr/>
          <p:nvPr/>
        </p:nvSpPr>
        <p:spPr>
          <a:xfrm>
            <a:off x="801410" y="4966335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2"/>
          <p:cNvSpPr/>
          <p:nvPr/>
        </p:nvSpPr>
        <p:spPr>
          <a:xfrm>
            <a:off x="1028343" y="5110043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Люди с СДВГ</a:t>
            </a:r>
            <a:endParaRPr b="0" i="0" sz="1750" u="none" cap="none" strike="noStrike"/>
          </a:p>
        </p:txBody>
      </p:sp>
      <p:sp>
        <p:nvSpPr>
          <p:cNvPr id="90" name="Google Shape;90;p12"/>
          <p:cNvSpPr/>
          <p:nvPr/>
        </p:nvSpPr>
        <p:spPr>
          <a:xfrm>
            <a:off x="4940379" y="5110043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Нужна структура, частая обратная связь, микро‑награды</a:t>
            </a:r>
            <a:endParaRPr b="0" i="0" sz="1750" u="none" cap="none" strike="noStrike"/>
          </a:p>
        </p:txBody>
      </p:sp>
      <p:sp>
        <p:nvSpPr>
          <p:cNvPr id="91" name="Google Shape;91;p12"/>
          <p:cNvSpPr/>
          <p:nvPr/>
        </p:nvSpPr>
        <p:spPr>
          <a:xfrm>
            <a:off x="801410" y="5616654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1028343" y="5760363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Маленькие проектные команды</a:t>
            </a:r>
            <a:endParaRPr b="0" i="0" sz="1750" u="none" cap="none" strike="noStrike"/>
          </a:p>
        </p:txBody>
      </p:sp>
      <p:sp>
        <p:nvSpPr>
          <p:cNvPr id="93" name="Google Shape;93;p12"/>
          <p:cNvSpPr/>
          <p:nvPr/>
        </p:nvSpPr>
        <p:spPr>
          <a:xfrm>
            <a:off x="4940379" y="5760363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Простой координированный прогресс, соревновательность</a:t>
            </a:r>
            <a:endParaRPr b="0" i="0" sz="1750" u="none" cap="none" strike="noStrike"/>
          </a:p>
        </p:txBody>
      </p:sp>
      <p:sp>
        <p:nvSpPr>
          <p:cNvPr id="94" name="Google Shape;94;p12"/>
          <p:cNvSpPr/>
          <p:nvPr/>
        </p:nvSpPr>
        <p:spPr>
          <a:xfrm>
            <a:off x="793790" y="652974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Приоритет первого запуска: фрилансеры + студенты (быстрый цикл обратной связи).</a:t>
            </a:r>
            <a:endParaRPr b="0" i="0" sz="1750" u="none" cap="none" strike="noStrike"/>
          </a:p>
        </p:txBody>
      </p:sp>
      <p:sp>
        <p:nvSpPr>
          <p:cNvPr id="95" name="Google Shape;95;p12"/>
          <p:cNvSpPr/>
          <p:nvPr/>
        </p:nvSpPr>
        <p:spPr>
          <a:xfrm>
            <a:off x="12831675" y="7715250"/>
            <a:ext cx="1798800" cy="5145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>
            <a:off x="1848445" y="1167765"/>
            <a:ext cx="8134945" cy="396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2450"/>
              <a:buFont typeface="Anton"/>
              <a:buNone/>
            </a:pPr>
            <a:r>
              <a:rPr b="0" i="0" lang="en-US" sz="2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Market Map — где мы на фоне существующих решений</a:t>
            </a:r>
            <a:endParaRPr b="0" i="0" sz="2450" u="none" cap="none" strike="noStrike"/>
          </a:p>
        </p:txBody>
      </p:sp>
      <p:sp>
        <p:nvSpPr>
          <p:cNvPr id="102" name="Google Shape;102;p13"/>
          <p:cNvSpPr/>
          <p:nvPr/>
        </p:nvSpPr>
        <p:spPr>
          <a:xfrm>
            <a:off x="1848445" y="1840468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550"/>
              <a:buFont typeface="Anton"/>
              <a:buNone/>
            </a:pPr>
            <a:r>
              <a:rPr b="0" i="0" lang="en-US" sz="15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Сегменты</a:t>
            </a:r>
            <a:endParaRPr b="0" i="0" sz="1550" u="none" cap="none" strike="noStrike"/>
          </a:p>
        </p:txBody>
      </p:sp>
      <p:sp>
        <p:nvSpPr>
          <p:cNvPr id="103" name="Google Shape;103;p13"/>
          <p:cNvSpPr/>
          <p:nvPr/>
        </p:nvSpPr>
        <p:spPr>
          <a:xfrm>
            <a:off x="1848445" y="2198727"/>
            <a:ext cx="6971467" cy="72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Char char="•"/>
            </a:pPr>
            <a:r>
              <a:rPr b="0" i="0" lang="en-US" sz="12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Студенты</a:t>
            </a:r>
            <a:endParaRPr b="0" i="0" sz="1200" u="none" cap="none" strike="noStrike"/>
          </a:p>
          <a:p>
            <a:pPr indent="-34290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Char char="•"/>
            </a:pPr>
            <a:r>
              <a:rPr b="0" i="0" lang="en-US" sz="12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Фрилансеры</a:t>
            </a:r>
            <a:endParaRPr b="0" i="0" sz="1200" u="none" cap="none" strike="noStrike"/>
          </a:p>
          <a:p>
            <a:pPr indent="-34290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Char char="•"/>
            </a:pPr>
            <a:r>
              <a:rPr b="0" i="0" lang="en-US" sz="12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СДВГ‑аудитория</a:t>
            </a:r>
            <a:endParaRPr b="0" i="0" sz="1200" u="none" cap="none" strike="noStrike"/>
          </a:p>
        </p:txBody>
      </p:sp>
      <p:pic>
        <p:nvPicPr>
          <p:cNvPr descr="preencoded.png" id="104" name="Google Shape;1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8445" y="3046333"/>
            <a:ext cx="6971467" cy="38909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/>
          <p:nvPr/>
        </p:nvSpPr>
        <p:spPr>
          <a:xfrm>
            <a:off x="9214009" y="2066568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550"/>
              <a:buFont typeface="Anton"/>
              <a:buNone/>
            </a:pPr>
            <a:r>
              <a:rPr b="0" i="0" lang="en-US" sz="15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Решения</a:t>
            </a:r>
            <a:endParaRPr b="0" i="0" sz="1550" u="none" cap="none" strike="noStrike"/>
          </a:p>
        </p:txBody>
      </p:sp>
      <p:pic>
        <p:nvPicPr>
          <p:cNvPr descr="preencoded.png" id="106" name="Google Shape;10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4009" y="2438638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/>
          <p:nvPr/>
        </p:nvSpPr>
        <p:spPr>
          <a:xfrm>
            <a:off x="9888617" y="2438638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Anton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Todoist</a:t>
            </a:r>
            <a:endParaRPr b="0" i="0" sz="1550" u="none" cap="none" strike="noStrike"/>
          </a:p>
        </p:txBody>
      </p:sp>
      <p:sp>
        <p:nvSpPr>
          <p:cNvPr id="108" name="Google Shape;108;p13"/>
          <p:cNvSpPr/>
          <p:nvPr/>
        </p:nvSpPr>
        <p:spPr>
          <a:xfrm>
            <a:off x="9888617" y="2796897"/>
            <a:ext cx="2900839" cy="430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None/>
            </a:pPr>
            <a:r>
              <a:rPr b="0" i="0" lang="en-US" sz="12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Сильный планинг, слабая геймификация</a:t>
            </a:r>
            <a:endParaRPr b="0" i="0" sz="1200" u="none" cap="none" strike="noStrike"/>
          </a:p>
        </p:txBody>
      </p:sp>
      <p:pic>
        <p:nvPicPr>
          <p:cNvPr descr="preencoded.png" id="109" name="Google Shape;1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4009" y="3448764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9888617" y="3448764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Anton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Notion</a:t>
            </a:r>
            <a:endParaRPr b="0" i="0" sz="1550" u="none" cap="none" strike="noStrike"/>
          </a:p>
        </p:txBody>
      </p:sp>
      <p:sp>
        <p:nvSpPr>
          <p:cNvPr id="111" name="Google Shape;111;p13"/>
          <p:cNvSpPr/>
          <p:nvPr/>
        </p:nvSpPr>
        <p:spPr>
          <a:xfrm>
            <a:off x="9888617" y="3807023"/>
            <a:ext cx="290083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None/>
            </a:pPr>
            <a:r>
              <a:rPr b="0" i="0" lang="en-US" sz="12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Гибкость, требует настройки</a:t>
            </a:r>
            <a:endParaRPr b="0" i="0" sz="1200" u="none" cap="none" strike="noStrike"/>
          </a:p>
        </p:txBody>
      </p:sp>
      <p:pic>
        <p:nvPicPr>
          <p:cNvPr descr="preencoded.png" id="112" name="Google Shape;11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4009" y="4243626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9888617" y="4243626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Anton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Google Calendar</a:t>
            </a:r>
            <a:endParaRPr b="0" i="0" sz="1550" u="none" cap="none" strike="noStrike"/>
          </a:p>
        </p:txBody>
      </p:sp>
      <p:sp>
        <p:nvSpPr>
          <p:cNvPr id="114" name="Google Shape;114;p13"/>
          <p:cNvSpPr/>
          <p:nvPr/>
        </p:nvSpPr>
        <p:spPr>
          <a:xfrm>
            <a:off x="9888617" y="4601885"/>
            <a:ext cx="290083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None/>
            </a:pPr>
            <a:r>
              <a:rPr b="0" i="0" lang="en-US" sz="12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Календарь — не трекер поведения</a:t>
            </a:r>
            <a:endParaRPr b="0" i="0" sz="1200" u="none" cap="none" strike="noStrike"/>
          </a:p>
        </p:txBody>
      </p:sp>
      <p:pic>
        <p:nvPicPr>
          <p:cNvPr descr="preencoded.png" id="115" name="Google Shape;11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14009" y="5038487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/>
          <p:nvPr/>
        </p:nvSpPr>
        <p:spPr>
          <a:xfrm>
            <a:off x="9888617" y="5038487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Anton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Блокнот / ничего</a:t>
            </a:r>
            <a:endParaRPr b="0" i="0" sz="1550" u="none" cap="none" strike="noStrike"/>
          </a:p>
        </p:txBody>
      </p:sp>
      <p:sp>
        <p:nvSpPr>
          <p:cNvPr id="117" name="Google Shape;117;p13"/>
          <p:cNvSpPr/>
          <p:nvPr/>
        </p:nvSpPr>
        <p:spPr>
          <a:xfrm>
            <a:off x="9888617" y="5396746"/>
            <a:ext cx="290083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None/>
            </a:pPr>
            <a:r>
              <a:rPr b="0" i="0" lang="en-US" sz="12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Нет поддержки фокуса и мотивации</a:t>
            </a:r>
            <a:endParaRPr b="0" i="0" sz="1200" u="none" cap="none" strike="noStrike"/>
          </a:p>
        </p:txBody>
      </p:sp>
      <p:sp>
        <p:nvSpPr>
          <p:cNvPr id="118" name="Google Shape;118;p13"/>
          <p:cNvSpPr/>
          <p:nvPr/>
        </p:nvSpPr>
        <p:spPr>
          <a:xfrm>
            <a:off x="9214009" y="5736431"/>
            <a:ext cx="3575447" cy="974646"/>
          </a:xfrm>
          <a:prstGeom prst="roundRect">
            <a:avLst>
              <a:gd fmla="val 2439" name="adj"/>
            </a:avLst>
          </a:prstGeom>
          <a:solidFill>
            <a:srgbClr val="4903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72362" y="5948124"/>
            <a:ext cx="198001" cy="15835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/>
          <p:nvPr/>
        </p:nvSpPr>
        <p:spPr>
          <a:xfrm>
            <a:off x="9728716" y="5886569"/>
            <a:ext cx="2902387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Fira Sa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Вывод: отсутствует решение с RPG‑составляющей, AI‑поддержкой и фокусом на СДВГ.</a:t>
            </a:r>
            <a:endParaRPr b="0" i="0" sz="1200" u="none" cap="none" strike="noStrike"/>
          </a:p>
        </p:txBody>
      </p:sp>
      <p:sp>
        <p:nvSpPr>
          <p:cNvPr id="121" name="Google Shape;121;p13"/>
          <p:cNvSpPr/>
          <p:nvPr/>
        </p:nvSpPr>
        <p:spPr>
          <a:xfrm>
            <a:off x="12831675" y="7715250"/>
            <a:ext cx="1798800" cy="5145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793790" y="936188"/>
            <a:ext cx="9567624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550"/>
              <a:buFont typeface="Anton"/>
              <a:buNone/>
            </a:pPr>
            <a:r>
              <a:rPr b="0" i="0" lang="en-US" sz="35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Конкуренты — что делают и чего не хватает</a:t>
            </a:r>
            <a:endParaRPr b="0" i="0" sz="3550" u="none" cap="none" strike="noStrike"/>
          </a:p>
        </p:txBody>
      </p:sp>
      <p:sp>
        <p:nvSpPr>
          <p:cNvPr id="128" name="Google Shape;128;p14"/>
          <p:cNvSpPr/>
          <p:nvPr/>
        </p:nvSpPr>
        <p:spPr>
          <a:xfrm>
            <a:off x="793790" y="1956792"/>
            <a:ext cx="13042821" cy="4718447"/>
          </a:xfrm>
          <a:prstGeom prst="roundRect">
            <a:avLst>
              <a:gd fmla="val 721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801410" y="1964412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1028462" y="2108121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Название</a:t>
            </a:r>
            <a:endParaRPr b="0" i="0" sz="1750" u="none" cap="none" strike="noStrike"/>
          </a:p>
        </p:txBody>
      </p:sp>
      <p:sp>
        <p:nvSpPr>
          <p:cNvPr id="131" name="Google Shape;131;p14"/>
          <p:cNvSpPr/>
          <p:nvPr/>
        </p:nvSpPr>
        <p:spPr>
          <a:xfrm>
            <a:off x="4289108" y="2108121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Тип</a:t>
            </a:r>
            <a:endParaRPr b="0" i="0" sz="1750" u="none" cap="none" strike="noStrike"/>
          </a:p>
        </p:txBody>
      </p:sp>
      <p:sp>
        <p:nvSpPr>
          <p:cNvPr id="132" name="Google Shape;132;p14"/>
          <p:cNvSpPr/>
          <p:nvPr/>
        </p:nvSpPr>
        <p:spPr>
          <a:xfrm>
            <a:off x="7545943" y="2108121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Сильные</a:t>
            </a:r>
            <a:endParaRPr b="0" i="0" sz="1750" u="none" cap="none" strike="noStrike"/>
          </a:p>
        </p:txBody>
      </p:sp>
      <p:sp>
        <p:nvSpPr>
          <p:cNvPr id="133" name="Google Shape;133;p14"/>
          <p:cNvSpPr/>
          <p:nvPr/>
        </p:nvSpPr>
        <p:spPr>
          <a:xfrm>
            <a:off x="10802779" y="2108121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Слабые</a:t>
            </a:r>
            <a:endParaRPr b="0" i="0" sz="1750" u="none" cap="none" strike="noStrike"/>
          </a:p>
        </p:txBody>
      </p:sp>
      <p:sp>
        <p:nvSpPr>
          <p:cNvPr id="134" name="Google Shape;134;p14"/>
          <p:cNvSpPr/>
          <p:nvPr/>
        </p:nvSpPr>
        <p:spPr>
          <a:xfrm>
            <a:off x="801410" y="2614732"/>
            <a:ext cx="13027581" cy="137612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1028462" y="2758440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Todoist</a:t>
            </a:r>
            <a:endParaRPr b="0" i="0" sz="1750" u="none" cap="none" strike="noStrike"/>
          </a:p>
        </p:txBody>
      </p:sp>
      <p:sp>
        <p:nvSpPr>
          <p:cNvPr id="136" name="Google Shape;136;p14"/>
          <p:cNvSpPr/>
          <p:nvPr/>
        </p:nvSpPr>
        <p:spPr>
          <a:xfrm>
            <a:off x="4289108" y="2758440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Трекер задач</a:t>
            </a:r>
            <a:endParaRPr b="0" i="0" sz="1750" u="none" cap="none" strike="noStrike"/>
          </a:p>
        </p:txBody>
      </p:sp>
      <p:sp>
        <p:nvSpPr>
          <p:cNvPr id="137" name="Google Shape;137;p14"/>
          <p:cNvSpPr/>
          <p:nvPr/>
        </p:nvSpPr>
        <p:spPr>
          <a:xfrm>
            <a:off x="7545943" y="2758440"/>
            <a:ext cx="27955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Планирование, интеграции</a:t>
            </a:r>
            <a:endParaRPr b="0" i="0" sz="1750" u="none" cap="none" strike="noStrike"/>
          </a:p>
        </p:txBody>
      </p:sp>
      <p:sp>
        <p:nvSpPr>
          <p:cNvPr id="138" name="Google Shape;138;p14"/>
          <p:cNvSpPr/>
          <p:nvPr/>
        </p:nvSpPr>
        <p:spPr>
          <a:xfrm>
            <a:off x="10802779" y="2758440"/>
            <a:ext cx="279939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Нет геймификации, нет ориентированности на пользователей с СДВГ</a:t>
            </a:r>
            <a:endParaRPr b="0" i="0" sz="1750" u="none" cap="none" strike="noStrike"/>
          </a:p>
        </p:txBody>
      </p:sp>
      <p:sp>
        <p:nvSpPr>
          <p:cNvPr id="139" name="Google Shape;139;p14"/>
          <p:cNvSpPr/>
          <p:nvPr/>
        </p:nvSpPr>
        <p:spPr>
          <a:xfrm>
            <a:off x="801410" y="3990856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1028462" y="4134564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TickTick</a:t>
            </a:r>
            <a:endParaRPr b="0" i="0" sz="1750" u="none" cap="none" strike="noStrike"/>
          </a:p>
        </p:txBody>
      </p:sp>
      <p:sp>
        <p:nvSpPr>
          <p:cNvPr id="141" name="Google Shape;141;p14"/>
          <p:cNvSpPr/>
          <p:nvPr/>
        </p:nvSpPr>
        <p:spPr>
          <a:xfrm>
            <a:off x="4289108" y="4134564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Комбо: задачи + таймер</a:t>
            </a:r>
            <a:endParaRPr b="0" i="0" sz="1750" u="none" cap="none" strike="noStrike"/>
          </a:p>
        </p:txBody>
      </p:sp>
      <p:sp>
        <p:nvSpPr>
          <p:cNvPr id="142" name="Google Shape;142;p14"/>
          <p:cNvSpPr/>
          <p:nvPr/>
        </p:nvSpPr>
        <p:spPr>
          <a:xfrm>
            <a:off x="7545943" y="4134564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Pomodoro, простота</a:t>
            </a:r>
            <a:endParaRPr b="0" i="0" sz="1750" u="none" cap="none" strike="noStrike"/>
          </a:p>
        </p:txBody>
      </p:sp>
      <p:sp>
        <p:nvSpPr>
          <p:cNvPr id="143" name="Google Shape;143;p14"/>
          <p:cNvSpPr/>
          <p:nvPr/>
        </p:nvSpPr>
        <p:spPr>
          <a:xfrm>
            <a:off x="10802779" y="4134564"/>
            <a:ext cx="279939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Ограниченная персонализация</a:t>
            </a:r>
            <a:endParaRPr b="0" i="0" sz="1750" u="none" cap="none" strike="noStrike"/>
          </a:p>
        </p:txBody>
      </p:sp>
      <p:sp>
        <p:nvSpPr>
          <p:cNvPr id="144" name="Google Shape;144;p14"/>
          <p:cNvSpPr/>
          <p:nvPr/>
        </p:nvSpPr>
        <p:spPr>
          <a:xfrm>
            <a:off x="801410" y="5004078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1028462" y="5147786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Notion</a:t>
            </a:r>
            <a:endParaRPr b="0" i="0" sz="1750" u="none" cap="none" strike="noStrike"/>
          </a:p>
        </p:txBody>
      </p:sp>
      <p:sp>
        <p:nvSpPr>
          <p:cNvPr id="146" name="Google Shape;146;p14"/>
          <p:cNvSpPr/>
          <p:nvPr/>
        </p:nvSpPr>
        <p:spPr>
          <a:xfrm>
            <a:off x="4289108" y="5147786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Блокнот/заметки</a:t>
            </a:r>
            <a:endParaRPr b="0" i="0" sz="1750" u="none" cap="none" strike="noStrike"/>
          </a:p>
        </p:txBody>
      </p:sp>
      <p:sp>
        <p:nvSpPr>
          <p:cNvPr id="147" name="Google Shape;147;p14"/>
          <p:cNvSpPr/>
          <p:nvPr/>
        </p:nvSpPr>
        <p:spPr>
          <a:xfrm>
            <a:off x="7545943" y="5147786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Гибкость, шаблоны</a:t>
            </a:r>
            <a:endParaRPr b="0" i="0" sz="1750" u="none" cap="none" strike="noStrike"/>
          </a:p>
        </p:txBody>
      </p:sp>
      <p:sp>
        <p:nvSpPr>
          <p:cNvPr id="148" name="Google Shape;148;p14"/>
          <p:cNvSpPr/>
          <p:nvPr/>
        </p:nvSpPr>
        <p:spPr>
          <a:xfrm>
            <a:off x="10802779" y="5147786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Сложность для новичков</a:t>
            </a:r>
            <a:endParaRPr b="0" i="0" sz="1750" u="none" cap="none" strike="noStrike"/>
          </a:p>
        </p:txBody>
      </p:sp>
      <p:sp>
        <p:nvSpPr>
          <p:cNvPr id="149" name="Google Shape;149;p14"/>
          <p:cNvSpPr/>
          <p:nvPr/>
        </p:nvSpPr>
        <p:spPr>
          <a:xfrm>
            <a:off x="801410" y="5654397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1028462" y="5798106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Duolingo (как референс)</a:t>
            </a:r>
            <a:endParaRPr b="0" i="0" sz="1750" u="none" cap="none" strike="noStrike"/>
          </a:p>
        </p:txBody>
      </p:sp>
      <p:sp>
        <p:nvSpPr>
          <p:cNvPr id="151" name="Google Shape;151;p14"/>
          <p:cNvSpPr/>
          <p:nvPr/>
        </p:nvSpPr>
        <p:spPr>
          <a:xfrm>
            <a:off x="4289108" y="5798106"/>
            <a:ext cx="27955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Геймификация в образовании</a:t>
            </a:r>
            <a:endParaRPr b="0" i="0" sz="1750" u="none" cap="none" strike="noStrike"/>
          </a:p>
        </p:txBody>
      </p:sp>
      <p:sp>
        <p:nvSpPr>
          <p:cNvPr id="152" name="Google Shape;152;p14"/>
          <p:cNvSpPr/>
          <p:nvPr/>
        </p:nvSpPr>
        <p:spPr>
          <a:xfrm>
            <a:off x="7545943" y="5798106"/>
            <a:ext cx="27955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Мотивация через персонажа</a:t>
            </a:r>
            <a:endParaRPr b="0" i="0" sz="1750" u="none" cap="none" strike="noStrike"/>
          </a:p>
        </p:txBody>
      </p:sp>
      <p:sp>
        <p:nvSpPr>
          <p:cNvPr id="153" name="Google Shape;153;p14"/>
          <p:cNvSpPr/>
          <p:nvPr/>
        </p:nvSpPr>
        <p:spPr>
          <a:xfrm>
            <a:off x="10802779" y="5798106"/>
            <a:ext cx="279939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Не для управления задачами</a:t>
            </a:r>
            <a:endParaRPr b="0" i="0" sz="1750" u="none" cap="none" strike="noStrike"/>
          </a:p>
        </p:txBody>
      </p:sp>
      <p:sp>
        <p:nvSpPr>
          <p:cNvPr id="154" name="Google Shape;154;p14"/>
          <p:cNvSpPr/>
          <p:nvPr/>
        </p:nvSpPr>
        <p:spPr>
          <a:xfrm>
            <a:off x="793790" y="693039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Ключевой пробел на рынке: комбинация геймификации (персонаж/маскот), AI‑ассистента и механизмов для СДВГ.</a:t>
            </a:r>
            <a:endParaRPr b="0" i="0" sz="1750" u="none" cap="none" strike="noStrike"/>
          </a:p>
        </p:txBody>
      </p:sp>
      <p:sp>
        <p:nvSpPr>
          <p:cNvPr id="155" name="Google Shape;155;p14"/>
          <p:cNvSpPr/>
          <p:nvPr/>
        </p:nvSpPr>
        <p:spPr>
          <a:xfrm>
            <a:off x="12831675" y="7715250"/>
            <a:ext cx="1798800" cy="5145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/>
          <p:nvPr/>
        </p:nvSpPr>
        <p:spPr>
          <a:xfrm>
            <a:off x="2123837" y="1044297"/>
            <a:ext cx="3009424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2350"/>
              <a:buFont typeface="Anton"/>
              <a:buNone/>
            </a:pPr>
            <a:r>
              <a:rPr b="0" i="0" lang="en-US" sz="23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Тренды и барьеры</a:t>
            </a:r>
            <a:endParaRPr b="0" i="0" sz="2350" u="none" cap="none" strike="noStrike"/>
          </a:p>
        </p:txBody>
      </p:sp>
      <p:sp>
        <p:nvSpPr>
          <p:cNvPr id="162" name="Google Shape;162;p15"/>
          <p:cNvSpPr/>
          <p:nvPr/>
        </p:nvSpPr>
        <p:spPr>
          <a:xfrm>
            <a:off x="2123837" y="1669971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Драйверы</a:t>
            </a:r>
            <a:endParaRPr b="0" i="0" sz="1450" u="none" cap="none" strike="noStrike"/>
          </a:p>
        </p:txBody>
      </p:sp>
      <p:pic>
        <p:nvPicPr>
          <p:cNvPr descr="preencoded.png"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837" y="2017395"/>
            <a:ext cx="376118" cy="37611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/>
          <p:nvPr/>
        </p:nvSpPr>
        <p:spPr>
          <a:xfrm>
            <a:off x="2123837" y="2518291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Удалёнка</a:t>
            </a:r>
            <a:endParaRPr b="0" i="0" sz="1450" u="none" cap="none" strike="noStrike"/>
          </a:p>
        </p:txBody>
      </p:sp>
      <p:sp>
        <p:nvSpPr>
          <p:cNvPr id="165" name="Google Shape;165;p15"/>
          <p:cNvSpPr/>
          <p:nvPr/>
        </p:nvSpPr>
        <p:spPr>
          <a:xfrm>
            <a:off x="2123837" y="2853214"/>
            <a:ext cx="5007888" cy="20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Рост дистанционной работы → спрос на self‑management</a:t>
            </a:r>
            <a:endParaRPr b="0" i="0" sz="1150" u="none" cap="none" strike="noStrike"/>
          </a:p>
        </p:txBody>
      </p:sp>
      <p:pic>
        <p:nvPicPr>
          <p:cNvPr descr="preencoded.png"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837" y="3253026"/>
            <a:ext cx="376118" cy="37611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/>
          <p:nvPr/>
        </p:nvSpPr>
        <p:spPr>
          <a:xfrm>
            <a:off x="2123837" y="3753922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Рост self‑management</a:t>
            </a:r>
            <a:endParaRPr b="0" i="0" sz="1450" u="none" cap="none" strike="noStrike"/>
          </a:p>
        </p:txBody>
      </p:sp>
      <p:sp>
        <p:nvSpPr>
          <p:cNvPr id="168" name="Google Shape;168;p15"/>
          <p:cNvSpPr/>
          <p:nvPr/>
        </p:nvSpPr>
        <p:spPr>
          <a:xfrm>
            <a:off x="2123837" y="4088844"/>
            <a:ext cx="5007888" cy="20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Инструменты личной эффективности в росте</a:t>
            </a:r>
            <a:endParaRPr b="0" i="0" sz="1150" u="none" cap="none" strike="noStrike"/>
          </a:p>
        </p:txBody>
      </p:sp>
      <p:pic>
        <p:nvPicPr>
          <p:cNvPr descr="preencoded.png" id="169" name="Google Shape;1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837" y="4488656"/>
            <a:ext cx="376118" cy="37611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/>
          <p:nvPr/>
        </p:nvSpPr>
        <p:spPr>
          <a:xfrm>
            <a:off x="2123837" y="4989552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ADHD Awareness</a:t>
            </a:r>
            <a:endParaRPr b="0" i="0" sz="1450" u="none" cap="none" strike="noStrike"/>
          </a:p>
        </p:txBody>
      </p:sp>
      <p:sp>
        <p:nvSpPr>
          <p:cNvPr id="171" name="Google Shape;171;p15"/>
          <p:cNvSpPr/>
          <p:nvPr/>
        </p:nvSpPr>
        <p:spPr>
          <a:xfrm>
            <a:off x="2123837" y="5324475"/>
            <a:ext cx="5007888" cy="20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Больше запросов на специализированные фичи</a:t>
            </a:r>
            <a:endParaRPr b="0" i="0" sz="1150" u="none" cap="none" strike="noStrike"/>
          </a:p>
        </p:txBody>
      </p:sp>
      <p:pic>
        <p:nvPicPr>
          <p:cNvPr descr="preencoded.png" id="172" name="Google Shape;1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837" y="5724287"/>
            <a:ext cx="376118" cy="37611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5"/>
          <p:cNvSpPr/>
          <p:nvPr/>
        </p:nvSpPr>
        <p:spPr>
          <a:xfrm>
            <a:off x="2123837" y="6225183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Геймификация</a:t>
            </a:r>
            <a:endParaRPr b="0" i="0" sz="1450" u="none" cap="none" strike="noStrike"/>
          </a:p>
        </p:txBody>
      </p:sp>
      <p:sp>
        <p:nvSpPr>
          <p:cNvPr id="174" name="Google Shape;174;p15"/>
          <p:cNvSpPr/>
          <p:nvPr/>
        </p:nvSpPr>
        <p:spPr>
          <a:xfrm>
            <a:off x="2123837" y="6560106"/>
            <a:ext cx="5007888" cy="20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Успешные кейсы поддерживают вовлечённость</a:t>
            </a:r>
            <a:endParaRPr b="0" i="0" sz="1150" u="none" cap="none" strike="noStrike"/>
          </a:p>
        </p:txBody>
      </p:sp>
      <p:sp>
        <p:nvSpPr>
          <p:cNvPr id="175" name="Google Shape;175;p15"/>
          <p:cNvSpPr/>
          <p:nvPr/>
        </p:nvSpPr>
        <p:spPr>
          <a:xfrm>
            <a:off x="7506295" y="1669971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Барьеры</a:t>
            </a:r>
            <a:endParaRPr b="0" i="0" sz="1450" u="none" cap="none" strike="noStrike"/>
          </a:p>
        </p:txBody>
      </p:sp>
      <p:sp>
        <p:nvSpPr>
          <p:cNvPr id="176" name="Google Shape;176;p15"/>
          <p:cNvSpPr/>
          <p:nvPr/>
        </p:nvSpPr>
        <p:spPr>
          <a:xfrm>
            <a:off x="7506295" y="2017395"/>
            <a:ext cx="2453997" cy="1066681"/>
          </a:xfrm>
          <a:prstGeom prst="roundRect">
            <a:avLst>
              <a:gd fmla="val 2116" name="adj"/>
            </a:avLst>
          </a:prstGeom>
          <a:solidFill>
            <a:srgbClr val="1F1F1F"/>
          </a:solidFill>
          <a:ln cap="flat" cmpd="sng" w="15225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7671911" y="2183011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Конкуренция</a:t>
            </a:r>
            <a:endParaRPr b="0" i="0" sz="1450" u="none" cap="none" strike="noStrike"/>
          </a:p>
        </p:txBody>
      </p:sp>
      <p:sp>
        <p:nvSpPr>
          <p:cNvPr id="178" name="Google Shape;178;p15"/>
          <p:cNvSpPr/>
          <p:nvPr/>
        </p:nvSpPr>
        <p:spPr>
          <a:xfrm>
            <a:off x="7671911" y="2517934"/>
            <a:ext cx="2122765" cy="400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Множество устоявшихся продуктов</a:t>
            </a:r>
            <a:endParaRPr b="0" i="0" sz="1150" u="none" cap="none" strike="noStrike"/>
          </a:p>
        </p:txBody>
      </p:sp>
      <p:sp>
        <p:nvSpPr>
          <p:cNvPr id="179" name="Google Shape;179;p15"/>
          <p:cNvSpPr/>
          <p:nvPr/>
        </p:nvSpPr>
        <p:spPr>
          <a:xfrm>
            <a:off x="10060067" y="2017395"/>
            <a:ext cx="2454116" cy="1066681"/>
          </a:xfrm>
          <a:prstGeom prst="roundRect">
            <a:avLst>
              <a:gd fmla="val 2116" name="adj"/>
            </a:avLst>
          </a:prstGeom>
          <a:solidFill>
            <a:srgbClr val="1F1F1F"/>
          </a:solidFill>
          <a:ln cap="flat" cmpd="sng" w="15225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10225683" y="2183011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Привычки</a:t>
            </a:r>
            <a:endParaRPr b="0" i="0" sz="1450" u="none" cap="none" strike="noStrike"/>
          </a:p>
        </p:txBody>
      </p:sp>
      <p:sp>
        <p:nvSpPr>
          <p:cNvPr id="181" name="Google Shape;181;p15"/>
          <p:cNvSpPr/>
          <p:nvPr/>
        </p:nvSpPr>
        <p:spPr>
          <a:xfrm>
            <a:off x="10225683" y="2517934"/>
            <a:ext cx="2122884" cy="400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Сложно сменить устоявшийся рабочий процесс</a:t>
            </a:r>
            <a:endParaRPr b="0" i="0" sz="1150" u="none" cap="none" strike="noStrike"/>
          </a:p>
        </p:txBody>
      </p:sp>
      <p:sp>
        <p:nvSpPr>
          <p:cNvPr id="182" name="Google Shape;182;p15"/>
          <p:cNvSpPr/>
          <p:nvPr/>
        </p:nvSpPr>
        <p:spPr>
          <a:xfrm>
            <a:off x="7506295" y="3183850"/>
            <a:ext cx="5007888" cy="866418"/>
          </a:xfrm>
          <a:prstGeom prst="roundRect">
            <a:avLst>
              <a:gd fmla="val 2605" name="adj"/>
            </a:avLst>
          </a:prstGeom>
          <a:solidFill>
            <a:srgbClr val="1F1F1F"/>
          </a:solidFill>
          <a:ln cap="flat" cmpd="sng" w="15225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7671911" y="3349466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Доверие к </a:t>
            </a:r>
            <a:r>
              <a:rPr lang="en-US" sz="145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ИИ</a:t>
            </a:r>
            <a:endParaRPr b="0" i="0" sz="1450" u="none" cap="none" strike="noStrike"/>
          </a:p>
        </p:txBody>
      </p:sp>
      <p:sp>
        <p:nvSpPr>
          <p:cNvPr id="184" name="Google Shape;184;p15"/>
          <p:cNvSpPr/>
          <p:nvPr/>
        </p:nvSpPr>
        <p:spPr>
          <a:xfrm>
            <a:off x="7671911" y="3684389"/>
            <a:ext cx="4676656" cy="20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Пользователи осторожны с автоматическими советами</a:t>
            </a:r>
            <a:endParaRPr b="0" i="0" sz="1150" u="none" cap="none" strike="noStrike"/>
          </a:p>
        </p:txBody>
      </p:sp>
      <p:sp>
        <p:nvSpPr>
          <p:cNvPr id="185" name="Google Shape;185;p15"/>
          <p:cNvSpPr/>
          <p:nvPr/>
        </p:nvSpPr>
        <p:spPr>
          <a:xfrm>
            <a:off x="2123837" y="6984921"/>
            <a:ext cx="10382726" cy="20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Наша задача — минимизировать барьеры через простой UX, прозрачный ИИ и вирусный контент.</a:t>
            </a:r>
            <a:endParaRPr b="0" i="0" sz="1150" u="none" cap="none" strike="noStrike"/>
          </a:p>
        </p:txBody>
      </p:sp>
      <p:sp>
        <p:nvSpPr>
          <p:cNvPr id="186" name="Google Shape;186;p15"/>
          <p:cNvSpPr/>
          <p:nvPr/>
        </p:nvSpPr>
        <p:spPr>
          <a:xfrm>
            <a:off x="12831675" y="7715250"/>
            <a:ext cx="1798800" cy="5145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1073229" y="1022628"/>
            <a:ext cx="3618428" cy="45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2800"/>
              <a:buFont typeface="Anton"/>
              <a:buNone/>
            </a:pPr>
            <a:r>
              <a:rPr b="0" i="0" lang="en-US" sz="28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Стратегия запуска</a:t>
            </a:r>
            <a:endParaRPr b="0" i="0" sz="2800" u="none" cap="none" strike="noStrike"/>
          </a:p>
        </p:txBody>
      </p:sp>
      <p:sp>
        <p:nvSpPr>
          <p:cNvPr id="193" name="Google Shape;193;p16"/>
          <p:cNvSpPr/>
          <p:nvPr/>
        </p:nvSpPr>
        <p:spPr>
          <a:xfrm>
            <a:off x="1073229" y="1763435"/>
            <a:ext cx="407075" cy="407075"/>
          </a:xfrm>
          <a:prstGeom prst="roundRect">
            <a:avLst>
              <a:gd fmla="val 6667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141035" y="1797308"/>
            <a:ext cx="271343" cy="339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100"/>
              <a:buFont typeface="Anton"/>
              <a:buNone/>
            </a:pPr>
            <a:r>
              <a:rPr b="0" i="0" lang="en-US" sz="21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 b="0" i="0" sz="2100" u="none" cap="none" strike="noStrike"/>
          </a:p>
        </p:txBody>
      </p:sp>
      <p:sp>
        <p:nvSpPr>
          <p:cNvPr id="195" name="Google Shape;195;p16"/>
          <p:cNvSpPr/>
          <p:nvPr/>
        </p:nvSpPr>
        <p:spPr>
          <a:xfrm>
            <a:off x="1624608" y="1825585"/>
            <a:ext cx="2261473" cy="28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Anton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MVP</a:t>
            </a:r>
            <a:endParaRPr b="0" i="0" sz="1750" u="none" cap="none" strike="noStrike"/>
          </a:p>
        </p:txBody>
      </p:sp>
      <p:sp>
        <p:nvSpPr>
          <p:cNvPr id="196" name="Google Shape;196;p16"/>
          <p:cNvSpPr/>
          <p:nvPr/>
        </p:nvSpPr>
        <p:spPr>
          <a:xfrm>
            <a:off x="1624608" y="2194679"/>
            <a:ext cx="1193244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Задачи + уровни + маскот + базовый AI (советы) + лидерборд среди друзей</a:t>
            </a:r>
            <a:endParaRPr b="0" i="0" sz="1400" u="none" cap="none" strike="noStrike"/>
          </a:p>
        </p:txBody>
      </p:sp>
      <p:sp>
        <p:nvSpPr>
          <p:cNvPr id="197" name="Google Shape;197;p16"/>
          <p:cNvSpPr/>
          <p:nvPr/>
        </p:nvSpPr>
        <p:spPr>
          <a:xfrm>
            <a:off x="1073229" y="2743438"/>
            <a:ext cx="407075" cy="407075"/>
          </a:xfrm>
          <a:prstGeom prst="roundRect">
            <a:avLst>
              <a:gd fmla="val 6667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1141035" y="2777311"/>
            <a:ext cx="271343" cy="339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100"/>
              <a:buFont typeface="Anton"/>
              <a:buNone/>
            </a:pPr>
            <a:r>
              <a:rPr b="0" i="0" lang="en-US" sz="21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 b="0" i="0" sz="2100" u="none" cap="none" strike="noStrike"/>
          </a:p>
        </p:txBody>
      </p:sp>
      <p:sp>
        <p:nvSpPr>
          <p:cNvPr id="199" name="Google Shape;199;p16"/>
          <p:cNvSpPr/>
          <p:nvPr/>
        </p:nvSpPr>
        <p:spPr>
          <a:xfrm>
            <a:off x="1624608" y="2805589"/>
            <a:ext cx="2261473" cy="28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Anton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Каналы</a:t>
            </a:r>
            <a:endParaRPr b="0" i="0" sz="1750" u="none" cap="none" strike="noStrike"/>
          </a:p>
        </p:txBody>
      </p:sp>
      <p:sp>
        <p:nvSpPr>
          <p:cNvPr id="200" name="Google Shape;200;p16"/>
          <p:cNvSpPr/>
          <p:nvPr/>
        </p:nvSpPr>
        <p:spPr>
          <a:xfrm>
            <a:off x="1624608" y="3174682"/>
            <a:ext cx="1193244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Короткие видео (reels, TikTok, YT Shorts), кампании в студенческих сообществах</a:t>
            </a:r>
            <a:endParaRPr b="0" i="0" sz="1400" u="none" cap="none" strike="noStrike"/>
          </a:p>
        </p:txBody>
      </p:sp>
      <p:sp>
        <p:nvSpPr>
          <p:cNvPr id="201" name="Google Shape;201;p16"/>
          <p:cNvSpPr/>
          <p:nvPr/>
        </p:nvSpPr>
        <p:spPr>
          <a:xfrm>
            <a:off x="1073229" y="3723442"/>
            <a:ext cx="407075" cy="407075"/>
          </a:xfrm>
          <a:prstGeom prst="roundRect">
            <a:avLst>
              <a:gd fmla="val 6667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1141035" y="3757315"/>
            <a:ext cx="271343" cy="339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100"/>
              <a:buFont typeface="Anton"/>
              <a:buNone/>
            </a:pPr>
            <a:r>
              <a:rPr b="0" i="0" lang="en-US" sz="21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 b="0" i="0" sz="2100" u="none" cap="none" strike="noStrike"/>
          </a:p>
        </p:txBody>
      </p:sp>
      <p:sp>
        <p:nvSpPr>
          <p:cNvPr id="203" name="Google Shape;203;p16"/>
          <p:cNvSpPr/>
          <p:nvPr/>
        </p:nvSpPr>
        <p:spPr>
          <a:xfrm>
            <a:off x="1624608" y="3785592"/>
            <a:ext cx="2261473" cy="28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Anton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Первый сегмент</a:t>
            </a:r>
            <a:endParaRPr b="0" i="0" sz="1750" u="none" cap="none" strike="noStrike"/>
          </a:p>
        </p:txBody>
      </p:sp>
      <p:sp>
        <p:nvSpPr>
          <p:cNvPr id="204" name="Google Shape;204;p16"/>
          <p:cNvSpPr/>
          <p:nvPr/>
        </p:nvSpPr>
        <p:spPr>
          <a:xfrm>
            <a:off x="1624608" y="4154686"/>
            <a:ext cx="1193244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Фрилансеры и студенты — быстрый рост и ранняя монетизация</a:t>
            </a:r>
            <a:endParaRPr b="0" i="0" sz="1400" u="none" cap="none" strike="noStrike"/>
          </a:p>
        </p:txBody>
      </p:sp>
      <p:sp>
        <p:nvSpPr>
          <p:cNvPr id="205" name="Google Shape;205;p16"/>
          <p:cNvSpPr/>
          <p:nvPr/>
        </p:nvSpPr>
        <p:spPr>
          <a:xfrm>
            <a:off x="1073229" y="4703445"/>
            <a:ext cx="407075" cy="407075"/>
          </a:xfrm>
          <a:prstGeom prst="roundRect">
            <a:avLst>
              <a:gd fmla="val 6667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1141035" y="4737318"/>
            <a:ext cx="271343" cy="339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100"/>
              <a:buFont typeface="Anton"/>
              <a:buNone/>
            </a:pPr>
            <a:r>
              <a:rPr b="0" i="0" lang="en-US" sz="21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  <a:endParaRPr b="0" i="0" sz="2100" u="none" cap="none" strike="noStrike"/>
          </a:p>
        </p:txBody>
      </p:sp>
      <p:sp>
        <p:nvSpPr>
          <p:cNvPr id="207" name="Google Shape;207;p16"/>
          <p:cNvSpPr/>
          <p:nvPr/>
        </p:nvSpPr>
        <p:spPr>
          <a:xfrm>
            <a:off x="1624608" y="4765596"/>
            <a:ext cx="2261473" cy="28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Anton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Гипотеза &amp; метрика</a:t>
            </a:r>
            <a:endParaRPr b="0" i="0" sz="1750" u="none" cap="none" strike="noStrike"/>
          </a:p>
        </p:txBody>
      </p:sp>
      <p:sp>
        <p:nvSpPr>
          <p:cNvPr id="208" name="Google Shape;208;p16"/>
          <p:cNvSpPr/>
          <p:nvPr/>
        </p:nvSpPr>
        <p:spPr>
          <a:xfrm>
            <a:off x="1624608" y="5134689"/>
            <a:ext cx="1193244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Геймификация увеличит 7‑day retention rate — метрика: 7‑day retention </a:t>
            </a:r>
            <a:r>
              <a:rPr lang="en-US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rate</a:t>
            </a:r>
            <a:endParaRPr b="0" i="0" sz="1400" u="none" cap="none" strike="noStrike"/>
          </a:p>
        </p:txBody>
      </p:sp>
      <p:sp>
        <p:nvSpPr>
          <p:cNvPr id="209" name="Google Shape;209;p16"/>
          <p:cNvSpPr/>
          <p:nvPr/>
        </p:nvSpPr>
        <p:spPr>
          <a:xfrm>
            <a:off x="1073229" y="5683448"/>
            <a:ext cx="407075" cy="407075"/>
          </a:xfrm>
          <a:prstGeom prst="roundRect">
            <a:avLst>
              <a:gd fmla="val 6667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1141035" y="5717322"/>
            <a:ext cx="271343" cy="339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100"/>
              <a:buFont typeface="Anton"/>
              <a:buNone/>
            </a:pPr>
            <a:r>
              <a:rPr b="0" i="0" lang="en-US" sz="21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5</a:t>
            </a:r>
            <a:endParaRPr b="0" i="0" sz="2100" u="none" cap="none" strike="noStrike"/>
          </a:p>
        </p:txBody>
      </p:sp>
      <p:sp>
        <p:nvSpPr>
          <p:cNvPr id="211" name="Google Shape;211;p16"/>
          <p:cNvSpPr/>
          <p:nvPr/>
        </p:nvSpPr>
        <p:spPr>
          <a:xfrm>
            <a:off x="1624608" y="5745599"/>
            <a:ext cx="2261473" cy="28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Anton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Таймлайн</a:t>
            </a:r>
            <a:endParaRPr b="0" i="0" sz="1750" u="none" cap="none" strike="noStrike"/>
          </a:p>
        </p:txBody>
      </p:sp>
      <p:sp>
        <p:nvSpPr>
          <p:cNvPr id="212" name="Google Shape;212;p16"/>
          <p:cNvSpPr/>
          <p:nvPr/>
        </p:nvSpPr>
        <p:spPr>
          <a:xfrm>
            <a:off x="1624608" y="6114693"/>
            <a:ext cx="1193244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Цель: MVP до конца лета</a:t>
            </a:r>
            <a:endParaRPr b="0" i="0" sz="1400" u="none" cap="none" strike="noStrike"/>
          </a:p>
        </p:txBody>
      </p:sp>
      <p:sp>
        <p:nvSpPr>
          <p:cNvPr id="213" name="Google Shape;213;p16"/>
          <p:cNvSpPr/>
          <p:nvPr/>
        </p:nvSpPr>
        <p:spPr>
          <a:xfrm>
            <a:off x="1073229" y="6537127"/>
            <a:ext cx="12483822" cy="669727"/>
          </a:xfrm>
          <a:prstGeom prst="roundRect">
            <a:avLst>
              <a:gd fmla="val 4052" name="adj"/>
            </a:avLst>
          </a:prstGeom>
          <a:solidFill>
            <a:srgbClr val="4903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4085" y="6795254"/>
            <a:ext cx="226100" cy="1808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6"/>
          <p:cNvSpPr/>
          <p:nvPr/>
        </p:nvSpPr>
        <p:spPr>
          <a:xfrm>
            <a:off x="1661041" y="6726555"/>
            <a:ext cx="1171515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Следующие шаги: собрать реальных пользователей для тестирования прототипа и подтвердить гипотезу retention.</a:t>
            </a:r>
            <a:endParaRPr b="0" i="0" sz="1400" u="none" cap="none" strike="noStrike"/>
          </a:p>
        </p:txBody>
      </p:sp>
      <p:sp>
        <p:nvSpPr>
          <p:cNvPr id="216" name="Google Shape;216;p16"/>
          <p:cNvSpPr/>
          <p:nvPr/>
        </p:nvSpPr>
        <p:spPr>
          <a:xfrm>
            <a:off x="12831675" y="7715250"/>
            <a:ext cx="1798800" cy="514500"/>
          </a:xfrm>
          <a:prstGeom prst="rect">
            <a:avLst/>
          </a:prstGeom>
          <a:solidFill>
            <a:srgbClr val="1F1F1F"/>
          </a:solidFill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